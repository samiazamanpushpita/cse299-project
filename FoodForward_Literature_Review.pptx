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Waste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A5A"/>
              </a:solidFill>
              <a:effectLst/>
            </c:spPr>
          </c:dPt>
          <c:dPt>
            <c:idx val="1"/>
            <c:bubble3D val="0"/>
            <c:spPr>
              <a:solidFill>
                <a:srgbClr val="E58B49"/>
              </a:solidFill>
              <a:effectLst/>
            </c:spPr>
          </c:dPt>
          <c:dPt>
            <c:idx val="2"/>
            <c:bubble3D val="0"/>
            <c:spPr>
              <a:solidFill>
                <a:srgbClr val="5C8FA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Households</c:v>
                </c:pt>
                <c:pt idx="1">
                  <c:v>Food service</c:v>
                </c:pt>
                <c:pt idx="2">
                  <c:v>Retail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28</c:v>
                </c:pt>
                <c:pt idx="2">
                  <c:v>12</c:v>
                </c:pt>
              </c:numCache>
            </c:numRef>
          </c:val>
        </c:ser>
        <c:firstSliceAng val="0"/>
        <c:holeSize val="64"/>
      </c:doughnutChart>
      <c:spPr>
        <a:noFill/>
        <a:ln w="12700" cap="flat">
          <a:solidFill>
            <a:srgbClr val="F1F6F2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E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FOODFORWARD • LITERATURE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241280" y="654710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Junior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8" Type="http://schemas.openxmlformats.org/officeDocument/2006/relationships/image" Target="../media/image-2-7.png"/><Relationship Id="rId9" Type="http://schemas.openxmlformats.org/officeDocument/2006/relationships/image" Target="../media/image-2-8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sv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sv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sv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svg"/><Relationship Id="rId39" Type="http://schemas.openxmlformats.org/officeDocument/2006/relationships/slideLayout" Target="../slideLayouts/slideLayout2.xml"/><Relationship Id="rId4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0"/>
            <a:ext cx="3611880" cy="3611880"/>
          </a:xfrm>
          <a:prstGeom prst="ellipse">
            <a:avLst/>
          </a:prstGeom>
          <a:solidFill>
            <a:srgbClr val="1A5A46">
              <a:alpha val="85000"/>
            </a:srgbClr>
          </a:solidFill>
          <a:ln w="12700">
            <a:solidFill>
              <a:srgbClr val="1A5A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3310128"/>
            <a:ext cx="2578608" cy="3291840"/>
          </a:xfrm>
          <a:prstGeom prst="ellipse">
            <a:avLst/>
          </a:prstGeom>
          <a:solidFill>
            <a:srgbClr val="2E8764">
              <a:alpha val="78000"/>
            </a:srgbClr>
          </a:solidFill>
          <a:ln w="12700">
            <a:solidFill>
              <a:srgbClr val="2E876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85216"/>
            <a:ext cx="969264" cy="969264"/>
          </a:xfrm>
          <a:prstGeom prst="roundRect">
            <a:avLst>
              <a:gd name="adj" fmla="val 16981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536" y="786384"/>
            <a:ext cx="256032" cy="31089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786384"/>
            <a:ext cx="228600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83080" y="758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FOODFORWARD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" y="1847088"/>
            <a:ext cx="8046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Web-Based Food Donation Platform Connecting Donors, Restaurants, and Charities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85800" y="32186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10" kern="0" dirty="0">
                <a:solidFill>
                  <a:srgbClr val="9CC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36850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base • Research gaps • Design implications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030968" y="1901952"/>
            <a:ext cx="804672" cy="1042416"/>
          </a:xfrm>
          <a:prstGeom prst="line">
            <a:avLst/>
          </a:prstGeom>
          <a:noFill/>
          <a:ln w="25400">
            <a:solidFill>
              <a:srgbClr val="B9D8C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680192" y="3346704"/>
            <a:ext cx="-1600200" cy="694944"/>
          </a:xfrm>
          <a:prstGeom prst="line">
            <a:avLst/>
          </a:prstGeom>
          <a:noFill/>
          <a:ln w="25400">
            <a:solidFill>
              <a:srgbClr val="B9D8C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015984" y="3913632"/>
            <a:ext cx="749808" cy="-1984248"/>
          </a:xfrm>
          <a:prstGeom prst="line">
            <a:avLst/>
          </a:prstGeom>
          <a:noFill/>
          <a:ln w="25400">
            <a:solidFill>
              <a:srgbClr val="B9D8C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46920" y="1243584"/>
            <a:ext cx="804672" cy="804672"/>
          </a:xfrm>
          <a:prstGeom prst="ellipse">
            <a:avLst/>
          </a:prstGeom>
          <a:solidFill>
            <a:srgbClr val="FFFDF8"/>
          </a:solidFill>
          <a:ln w="25400">
            <a:solidFill>
              <a:srgbClr val="9CCB6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0" y="14447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0" y="21396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10661904" y="2852928"/>
            <a:ext cx="804672" cy="804672"/>
          </a:xfrm>
          <a:prstGeom prst="ellipse">
            <a:avLst/>
          </a:prstGeom>
          <a:solidFill>
            <a:srgbClr val="FFFDF8"/>
          </a:solidFill>
          <a:ln w="25400">
            <a:solidFill>
              <a:srgbClr val="9CCB6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0504" y="305409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33304" y="3749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RESTAURANTS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8613648" y="3941064"/>
            <a:ext cx="804672" cy="804672"/>
          </a:xfrm>
          <a:prstGeom prst="ellipse">
            <a:avLst/>
          </a:prstGeom>
          <a:solidFill>
            <a:srgbClr val="FFFDF8"/>
          </a:solidFill>
          <a:ln w="25400">
            <a:solidFill>
              <a:srgbClr val="9CCB6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42248" y="414223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85048" y="4837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CHARITIES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9454896" y="2532888"/>
            <a:ext cx="1097280" cy="1097280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65792" y="2834640"/>
            <a:ext cx="475488" cy="4754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5800" y="58887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Junior Project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0881360" y="5888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D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•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this problem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FoodForward responds to the coexistence of edible food waste and unmet food need.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2139696" cy="1664208"/>
          </a:xfrm>
          <a:prstGeom prst="roundRect">
            <a:avLst>
              <a:gd name="adj" fmla="val 824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D9634D"/>
          </a:solidFill>
          <a:ln w="12700">
            <a:solidFill>
              <a:srgbClr val="D9634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19019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331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1.05B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874520" y="25054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6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tonnes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" y="28254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wasted globally in 2022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99232" y="1627632"/>
            <a:ext cx="2139696" cy="1664208"/>
          </a:xfrm>
          <a:prstGeom prst="roundRect">
            <a:avLst>
              <a:gd name="adj" fmla="val 824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63824" y="1792224"/>
            <a:ext cx="438912" cy="438912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552" y="19019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63824" y="2331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19%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4251960" y="25054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58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food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163824" y="28254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to consumers was wasted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376672" y="1627632"/>
            <a:ext cx="2139696" cy="1664208"/>
          </a:xfrm>
          <a:prstGeom prst="roundRect">
            <a:avLst>
              <a:gd name="adj" fmla="val 824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41264" y="1792224"/>
            <a:ext cx="438912" cy="43891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0992" y="190195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41264" y="2331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673M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6629400" y="25054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541264" y="28254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faced hunger in 2024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845552" y="1627632"/>
            <a:ext cx="3703320" cy="3227832"/>
          </a:xfrm>
          <a:prstGeom prst="roundRect">
            <a:avLst>
              <a:gd name="adj" fmla="val 4249"/>
            </a:avLst>
          </a:prstGeom>
          <a:solidFill>
            <a:srgbClr val="F1F6F2"/>
          </a:solidFill>
          <a:ln w="12700">
            <a:solidFill>
              <a:srgbClr val="D9E6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38160" y="18470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food waste occurs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8074152" y="2194560"/>
          <a:ext cx="1901952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6" name="Text 20"/>
          <p:cNvSpPr/>
          <p:nvPr/>
        </p:nvSpPr>
        <p:spPr>
          <a:xfrm>
            <a:off x="8668512" y="278892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60%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577072" y="313639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households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10204704" y="2404872"/>
            <a:ext cx="137160" cy="1371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405872" y="2377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Households 60%</a:t>
            </a:r>
            <a:endParaRPr lang="en-US" sz="870" dirty="0"/>
          </a:p>
        </p:txBody>
      </p:sp>
      <p:sp>
        <p:nvSpPr>
          <p:cNvPr id="30" name="Shape 24"/>
          <p:cNvSpPr/>
          <p:nvPr/>
        </p:nvSpPr>
        <p:spPr>
          <a:xfrm>
            <a:off x="10204704" y="2898648"/>
            <a:ext cx="137160" cy="137160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405872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service 28%</a:t>
            </a:r>
            <a:endParaRPr lang="en-US" sz="870" dirty="0"/>
          </a:p>
        </p:txBody>
      </p:sp>
      <p:sp>
        <p:nvSpPr>
          <p:cNvPr id="32" name="Shape 26"/>
          <p:cNvSpPr/>
          <p:nvPr/>
        </p:nvSpPr>
        <p:spPr>
          <a:xfrm>
            <a:off x="10204704" y="3392424"/>
            <a:ext cx="137160" cy="137160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405872" y="3364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12%</a:t>
            </a:r>
            <a:endParaRPr lang="en-US" sz="870" dirty="0"/>
          </a:p>
        </p:txBody>
      </p:sp>
      <p:sp>
        <p:nvSpPr>
          <p:cNvPr id="34" name="Shape 28"/>
          <p:cNvSpPr/>
          <p:nvPr/>
        </p:nvSpPr>
        <p:spPr>
          <a:xfrm>
            <a:off x="621792" y="3685032"/>
            <a:ext cx="7040880" cy="1179576"/>
          </a:xfrm>
          <a:prstGeom prst="roundRect">
            <a:avLst>
              <a:gd name="adj" fmla="val 11628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7824" y="3931920"/>
            <a:ext cx="274320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80160" y="3849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Bangladesh relevance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280160" y="4169664"/>
            <a:ext cx="5989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8E8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WFP estimates about 16 million people face acute food insecurity. Restaurant studies also report substantial preparation and plate waste, strengthening the case for a reliable local redistribution channel.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UNEP (2024); FAO et al. (2025); WFP Bangladesh (2026 country profile); IFPRI Bangladesh (2024); Jahan (2025).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• REVIEW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Scope and review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focused narrative review with a structured search and explicit evidence-to-design synthesis.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25780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105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288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7632" y="18470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1783080"/>
            <a:ext cx="3611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role do donation and redistribution systems play in reducing food waste and food insecurity?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6172200" y="1627632"/>
            <a:ext cx="525780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18105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8288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RQ2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9752" y="184708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62088" y="1783080"/>
            <a:ext cx="3611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digital platforms improve matching, communication, tracking and transparency?</a:t>
            </a:r>
            <a:endParaRPr lang="en-US" sz="1010" dirty="0"/>
          </a:p>
        </p:txBody>
      </p:sp>
      <p:sp>
        <p:nvSpPr>
          <p:cNvPr id="15" name="Shape 11"/>
          <p:cNvSpPr/>
          <p:nvPr/>
        </p:nvSpPr>
        <p:spPr>
          <a:xfrm>
            <a:off x="640080" y="2871216"/>
            <a:ext cx="525780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3054096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4672" y="30723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RQ3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7632" y="309067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29968" y="3026664"/>
            <a:ext cx="3611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barriers affect donors, restaurants and charities?</a:t>
            </a:r>
            <a:endParaRPr lang="en-US" sz="1010" dirty="0"/>
          </a:p>
        </p:txBody>
      </p:sp>
      <p:sp>
        <p:nvSpPr>
          <p:cNvPr id="20" name="Shape 15"/>
          <p:cNvSpPr/>
          <p:nvPr/>
        </p:nvSpPr>
        <p:spPr>
          <a:xfrm>
            <a:off x="6172200" y="2871216"/>
            <a:ext cx="5257800" cy="987552"/>
          </a:xfrm>
          <a:prstGeom prst="roundRect">
            <a:avLst>
              <a:gd name="adj" fmla="val 1296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36792" y="3054096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36792" y="30723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RQ4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9752" y="309067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62088" y="3026664"/>
            <a:ext cx="3611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evidence-supported features should FoodForward implement?</a:t>
            </a:r>
            <a:endParaRPr lang="en-US" sz="1010" dirty="0"/>
          </a:p>
        </p:txBody>
      </p:sp>
      <p:sp>
        <p:nvSpPr>
          <p:cNvPr id="25" name="Shape 19"/>
          <p:cNvSpPr/>
          <p:nvPr/>
        </p:nvSpPr>
        <p:spPr>
          <a:xfrm>
            <a:off x="640080" y="4315968"/>
            <a:ext cx="10661904" cy="1188720"/>
          </a:xfrm>
          <a:prstGeom prst="roundRect">
            <a:avLst>
              <a:gd name="adj" fmla="val 11538"/>
            </a:avLst>
          </a:prstGeom>
          <a:solidFill>
            <a:srgbClr val="EDF4EF"/>
          </a:solidFill>
          <a:ln w="12700">
            <a:solidFill>
              <a:srgbClr val="D7E6D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7824" y="45537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16736" y="4489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316736" y="4782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journal portals and UN agency repositories</a:t>
            </a:r>
            <a:endParaRPr lang="en-US" sz="83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1880" y="455371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50792" y="4489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050792" y="4782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Peer-reviewed studies, reviews, official reports and Bangladesh evidence</a:t>
            </a:r>
            <a:endParaRPr lang="en-US" sz="83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7648" y="4553712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66560" y="4489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6766560" y="4782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2017–2026, with seminal earlier safety work</a:t>
            </a:r>
            <a:endParaRPr lang="en-US" sz="83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34272" y="4553712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73184" y="4489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9473184" y="4782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Themes, gaps and implications for system features</a:t>
            </a:r>
            <a:endParaRPr lang="en-US" sz="830" dirty="0"/>
          </a:p>
        </p:txBody>
      </p:sp>
      <p:sp>
        <p:nvSpPr>
          <p:cNvPr id="38" name="Text 28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base: 13 core scholarly and institutional sources, supplemented by recent Bangladesh-specific evidence.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• EVIDENCE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the literature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field is multidisciplinary: sustainability, logistics, digital platforms, public health and social innovation.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81728" y="2167128"/>
            <a:ext cx="2834640" cy="2834640"/>
          </a:xfrm>
          <a:prstGeom prst="ellipse">
            <a:avLst/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2697480"/>
            <a:ext cx="841248" cy="841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65776" y="3703320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FOODFORWARD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 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1536192"/>
            <a:ext cx="3154680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1700784"/>
            <a:ext cx="411480" cy="41148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112" y="1801368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16733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waste systems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344168" y="1901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policy, behavior and technology</a:t>
            </a:r>
            <a:endParaRPr lang="en-US" sz="830" dirty="0"/>
          </a:p>
        </p:txBody>
      </p:sp>
      <p:sp>
        <p:nvSpPr>
          <p:cNvPr id="13" name="Text 9"/>
          <p:cNvSpPr/>
          <p:nvPr/>
        </p:nvSpPr>
        <p:spPr>
          <a:xfrm>
            <a:off x="1344168" y="214884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Carvalho et al., 2025</a:t>
            </a:r>
            <a:endParaRPr lang="en-US" sz="680" dirty="0"/>
          </a:p>
        </p:txBody>
      </p:sp>
      <p:sp>
        <p:nvSpPr>
          <p:cNvPr id="14" name="Shape 10"/>
          <p:cNvSpPr/>
          <p:nvPr/>
        </p:nvSpPr>
        <p:spPr>
          <a:xfrm>
            <a:off x="658368" y="4160520"/>
            <a:ext cx="3154680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5528" y="4325112"/>
            <a:ext cx="411480" cy="411480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112" y="442569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Redistribution supply chains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344168" y="4526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Intermediaries, collaboration and trust</a:t>
            </a:r>
            <a:endParaRPr lang="en-US" sz="830" dirty="0"/>
          </a:p>
        </p:txBody>
      </p:sp>
      <p:sp>
        <p:nvSpPr>
          <p:cNvPr id="19" name="Text 14"/>
          <p:cNvSpPr/>
          <p:nvPr/>
        </p:nvSpPr>
        <p:spPr>
          <a:xfrm>
            <a:off x="1344168" y="477316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Thapa Karki et al., 2021</a:t>
            </a:r>
            <a:endParaRPr lang="en-US" sz="680" dirty="0"/>
          </a:p>
        </p:txBody>
      </p:sp>
      <p:sp>
        <p:nvSpPr>
          <p:cNvPr id="20" name="Shape 15"/>
          <p:cNvSpPr/>
          <p:nvPr/>
        </p:nvSpPr>
        <p:spPr>
          <a:xfrm>
            <a:off x="8366760" y="1536192"/>
            <a:ext cx="3154680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03920" y="1700784"/>
            <a:ext cx="411480" cy="411480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4504" y="1801368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52560" y="16733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platforms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052560" y="1901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Matching, network effects and visibility</a:t>
            </a:r>
            <a:endParaRPr lang="en-US" sz="830" dirty="0"/>
          </a:p>
        </p:txBody>
      </p:sp>
      <p:sp>
        <p:nvSpPr>
          <p:cNvPr id="25" name="Text 19"/>
          <p:cNvSpPr/>
          <p:nvPr/>
        </p:nvSpPr>
        <p:spPr>
          <a:xfrm>
            <a:off x="9052560" y="214884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Oroski &amp; da Silva, 2023; Harvey et al., 2020</a:t>
            </a:r>
            <a:endParaRPr lang="en-US" sz="680" dirty="0"/>
          </a:p>
        </p:txBody>
      </p:sp>
      <p:sp>
        <p:nvSpPr>
          <p:cNvPr id="26" name="Shape 20"/>
          <p:cNvSpPr/>
          <p:nvPr/>
        </p:nvSpPr>
        <p:spPr>
          <a:xfrm>
            <a:off x="8366760" y="4160520"/>
            <a:ext cx="3154680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503920" y="4325112"/>
            <a:ext cx="411480" cy="411480"/>
          </a:xfrm>
          <a:prstGeom prst="ellipse">
            <a:avLst/>
          </a:prstGeom>
          <a:solidFill>
            <a:srgbClr val="D9634D"/>
          </a:solidFill>
          <a:ln w="12700">
            <a:solidFill>
              <a:srgbClr val="D9634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04504" y="4425696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52560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and quality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052560" y="4526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Hygiene, traceability and risk controls</a:t>
            </a:r>
            <a:endParaRPr lang="en-US" sz="830" dirty="0"/>
          </a:p>
        </p:txBody>
      </p:sp>
      <p:sp>
        <p:nvSpPr>
          <p:cNvPr id="31" name="Text 24"/>
          <p:cNvSpPr/>
          <p:nvPr/>
        </p:nvSpPr>
        <p:spPr>
          <a:xfrm>
            <a:off x="9052560" y="4773168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Bierma et al., 2019</a:t>
            </a:r>
            <a:endParaRPr lang="en-US" sz="680" dirty="0"/>
          </a:p>
        </p:txBody>
      </p:sp>
      <p:sp>
        <p:nvSpPr>
          <p:cNvPr id="32" name="Shape 25"/>
          <p:cNvSpPr/>
          <p:nvPr/>
        </p:nvSpPr>
        <p:spPr>
          <a:xfrm>
            <a:off x="4142232" y="1481328"/>
            <a:ext cx="3904488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279392" y="1645920"/>
            <a:ext cx="411480" cy="411480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9976" y="1746504"/>
            <a:ext cx="210312" cy="2103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828032" y="161848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operations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828032" y="184708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participation and logistics</a:t>
            </a:r>
            <a:endParaRPr lang="en-US" sz="830" dirty="0"/>
          </a:p>
        </p:txBody>
      </p:sp>
      <p:sp>
        <p:nvSpPr>
          <p:cNvPr id="37" name="Text 29"/>
          <p:cNvSpPr/>
          <p:nvPr/>
        </p:nvSpPr>
        <p:spPr>
          <a:xfrm>
            <a:off x="4828032" y="2093976"/>
            <a:ext cx="3081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Devaraj &amp; Balasubramanian, 2025</a:t>
            </a:r>
            <a:endParaRPr lang="en-US" sz="680" dirty="0"/>
          </a:p>
        </p:txBody>
      </p:sp>
      <p:sp>
        <p:nvSpPr>
          <p:cNvPr id="38" name="Shape 30"/>
          <p:cNvSpPr/>
          <p:nvPr/>
        </p:nvSpPr>
        <p:spPr>
          <a:xfrm>
            <a:off x="4142232" y="5047488"/>
            <a:ext cx="3904488" cy="841248"/>
          </a:xfrm>
          <a:prstGeom prst="roundRect">
            <a:avLst>
              <a:gd name="adj" fmla="val 1413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279392" y="5212080"/>
            <a:ext cx="411480" cy="411480"/>
          </a:xfrm>
          <a:prstGeom prst="ellipse">
            <a:avLst/>
          </a:prstGeom>
          <a:solidFill>
            <a:srgbClr val="9CCB65"/>
          </a:solidFill>
          <a:ln w="12700">
            <a:solidFill>
              <a:srgbClr val="9CCB65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79976" y="5312664"/>
            <a:ext cx="210312" cy="21031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828032" y="518464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allocation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4828032" y="541324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GIS, demand analytics and prioritization</a:t>
            </a:r>
            <a:endParaRPr lang="en-US" sz="830" dirty="0"/>
          </a:p>
        </p:txBody>
      </p:sp>
      <p:sp>
        <p:nvSpPr>
          <p:cNvPr id="43" name="Text 34"/>
          <p:cNvSpPr/>
          <p:nvPr/>
        </p:nvSpPr>
        <p:spPr>
          <a:xfrm>
            <a:off x="4828032" y="5660136"/>
            <a:ext cx="30815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7C8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Onyeaka et al., 2023</a:t>
            </a:r>
            <a:endParaRPr lang="en-US" sz="680" dirty="0"/>
          </a:p>
        </p:txBody>
      </p:sp>
      <p:sp>
        <p:nvSpPr>
          <p:cNvPr id="44" name="Shape 35"/>
          <p:cNvSpPr/>
          <p:nvPr/>
        </p:nvSpPr>
        <p:spPr>
          <a:xfrm>
            <a:off x="3813048" y="1965960"/>
            <a:ext cx="1005840" cy="1005840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813048" y="4599432"/>
            <a:ext cx="1005840" cy="-731520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7516368" y="2907792"/>
            <a:ext cx="850392" cy="-914400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7516368" y="4169664"/>
            <a:ext cx="850392" cy="420624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089904" y="2157984"/>
            <a:ext cx="0" cy="-676656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089904" y="5001768"/>
            <a:ext cx="0" cy="146304"/>
          </a:xfrm>
          <a:prstGeom prst="line">
            <a:avLst/>
          </a:prstGeom>
          <a:noFill/>
          <a:ln w="17780">
            <a:solidFill>
              <a:srgbClr val="B8C8BF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themes synthesized from recent reviews, empirical studies and official guidance.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• THEME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Redistribution is a bridge — not a complete cure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literature supports donation, while emphasizing prevention, dignity and wider social policy.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USE HIERARCHY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847088"/>
            <a:ext cx="2148840" cy="658368"/>
          </a:xfrm>
          <a:prstGeom prst="chevron">
            <a:avLst/>
          </a:prstGeom>
          <a:solidFill>
            <a:srgbClr val="1F7A5A"/>
          </a:solidFill>
          <a:ln w="12700">
            <a:solidFill>
              <a:srgbClr val="F7F4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536" y="20299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Prevent surplus</a:t>
            </a:r>
            <a:endParaRPr lang="en-US" sz="910" dirty="0"/>
          </a:p>
        </p:txBody>
      </p:sp>
      <p:sp>
        <p:nvSpPr>
          <p:cNvPr id="9" name="Shape 6"/>
          <p:cNvSpPr/>
          <p:nvPr/>
        </p:nvSpPr>
        <p:spPr>
          <a:xfrm>
            <a:off x="2871216" y="1847088"/>
            <a:ext cx="2148840" cy="658368"/>
          </a:xfrm>
          <a:prstGeom prst="chevron">
            <a:avLst/>
          </a:prstGeom>
          <a:solidFill>
            <a:srgbClr val="E58B49"/>
          </a:solidFill>
          <a:ln w="12700">
            <a:solidFill>
              <a:srgbClr val="F7F4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5808" y="202996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46704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Donate for people</a:t>
            </a:r>
            <a:endParaRPr lang="en-US" sz="910" dirty="0"/>
          </a:p>
        </p:txBody>
      </p:sp>
      <p:sp>
        <p:nvSpPr>
          <p:cNvPr id="12" name="Shape 8"/>
          <p:cNvSpPr/>
          <p:nvPr/>
        </p:nvSpPr>
        <p:spPr>
          <a:xfrm>
            <a:off x="5047488" y="1847088"/>
            <a:ext cx="2148840" cy="658368"/>
          </a:xfrm>
          <a:prstGeom prst="chevron">
            <a:avLst/>
          </a:prstGeom>
          <a:solidFill>
            <a:srgbClr val="5C8FA8"/>
          </a:solidFill>
          <a:ln w="12700">
            <a:solidFill>
              <a:srgbClr val="F7F4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2080" y="202996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22976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Animal / industry</a:t>
            </a:r>
            <a:endParaRPr lang="en-US" sz="910" dirty="0"/>
          </a:p>
        </p:txBody>
      </p:sp>
      <p:sp>
        <p:nvSpPr>
          <p:cNvPr id="15" name="Shape 10"/>
          <p:cNvSpPr/>
          <p:nvPr/>
        </p:nvSpPr>
        <p:spPr>
          <a:xfrm>
            <a:off x="7223760" y="1847088"/>
            <a:ext cx="2148840" cy="658368"/>
          </a:xfrm>
          <a:prstGeom prst="chevron">
            <a:avLst/>
          </a:prstGeom>
          <a:solidFill>
            <a:srgbClr val="A78CC3"/>
          </a:solidFill>
          <a:ln w="12700">
            <a:solidFill>
              <a:srgbClr val="F7F4E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8352" y="202996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99248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Recycle nutrients</a:t>
            </a:r>
            <a:endParaRPr lang="en-US" sz="910" dirty="0"/>
          </a:p>
        </p:txBody>
      </p:sp>
      <p:sp>
        <p:nvSpPr>
          <p:cNvPr id="18" name="Shape 12"/>
          <p:cNvSpPr/>
          <p:nvPr/>
        </p:nvSpPr>
        <p:spPr>
          <a:xfrm>
            <a:off x="9400032" y="1847088"/>
            <a:ext cx="2148840" cy="658368"/>
          </a:xfrm>
          <a:prstGeom prst="chevron">
            <a:avLst/>
          </a:prstGeom>
          <a:solidFill>
            <a:srgbClr val="D9634D"/>
          </a:solidFill>
          <a:ln w="12700">
            <a:solidFill>
              <a:srgbClr val="F7F4EC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4624" y="202996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875520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Disposal</a:t>
            </a:r>
            <a:endParaRPr lang="en-US" sz="910" dirty="0"/>
          </a:p>
        </p:txBody>
      </p:sp>
      <p:sp>
        <p:nvSpPr>
          <p:cNvPr id="21" name="Shape 14"/>
          <p:cNvSpPr/>
          <p:nvPr/>
        </p:nvSpPr>
        <p:spPr>
          <a:xfrm>
            <a:off x="694944" y="3017520"/>
            <a:ext cx="2834640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59536" y="3191256"/>
            <a:ext cx="475488" cy="475488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408" y="330098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53896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Recovers edible value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1453896" y="3447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Donation keeps safe, fit-for-purpose food in human consumption rather than disposal.</a:t>
            </a:r>
            <a:endParaRPr lang="en-US" sz="870" dirty="0"/>
          </a:p>
        </p:txBody>
      </p:sp>
      <p:sp>
        <p:nvSpPr>
          <p:cNvPr id="26" name="Shape 18"/>
          <p:cNvSpPr/>
          <p:nvPr/>
        </p:nvSpPr>
        <p:spPr>
          <a:xfrm>
            <a:off x="3867912" y="3017520"/>
            <a:ext cx="2834640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032504" y="3191256"/>
            <a:ext cx="475488" cy="475488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51376" y="3300984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626864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 intermediaries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626864" y="3447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Charities and food banks coordinate commercial donors, logistics and end users.</a:t>
            </a:r>
            <a:endParaRPr lang="en-US" sz="870" dirty="0"/>
          </a:p>
        </p:txBody>
      </p:sp>
      <p:sp>
        <p:nvSpPr>
          <p:cNvPr id="31" name="Shape 22"/>
          <p:cNvSpPr/>
          <p:nvPr/>
        </p:nvSpPr>
        <p:spPr>
          <a:xfrm>
            <a:off x="7040880" y="3017520"/>
            <a:ext cx="2834640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205472" y="3191256"/>
            <a:ext cx="475488" cy="475488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24344" y="3300984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799832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balanced framing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7799832" y="344728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Redistribution can relieve need, but does not solve the root causes of poverty or overproduction.</a:t>
            </a:r>
            <a:endParaRPr lang="en-US" sz="870" dirty="0"/>
          </a:p>
        </p:txBody>
      </p:sp>
      <p:sp>
        <p:nvSpPr>
          <p:cNvPr id="36" name="Shape 26"/>
          <p:cNvSpPr/>
          <p:nvPr/>
        </p:nvSpPr>
        <p:spPr>
          <a:xfrm>
            <a:off x="1508760" y="4572000"/>
            <a:ext cx="9144000" cy="713232"/>
          </a:xfrm>
          <a:prstGeom prst="roundRect">
            <a:avLst>
              <a:gd name="adj" fmla="val 19231"/>
            </a:avLst>
          </a:prstGeom>
          <a:solidFill>
            <a:srgbClr val="E6EFEA"/>
          </a:solidFill>
          <a:ln w="12700">
            <a:solidFill>
              <a:srgbClr val="D4E4DB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83080" y="4773168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2194560" y="4681728"/>
            <a:ext cx="8101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implication: FoodForward should promote responsible donation and measurable redistribution without claiming that technology alone can end hunger or eliminate food waste.</a:t>
            </a:r>
            <a:endParaRPr lang="en-US" sz="1030" dirty="0"/>
          </a:p>
        </p:txBody>
      </p:sp>
      <p:sp>
        <p:nvSpPr>
          <p:cNvPr id="39" name="Text 28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FAO recovery and redistribution guidance; Thapa Karki, Bennett &amp; Mishra (2021); Carvalho et al. (2025).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• THEME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Digital platforms reduce coordination friction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strongest contribution is not “creating food,” but making surplus and need visible, timely and actionable.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" y="1609344"/>
            <a:ext cx="2743200" cy="3977640"/>
          </a:xfrm>
          <a:prstGeom prst="roundRect">
            <a:avLst>
              <a:gd name="adj" fmla="val 10000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920240"/>
            <a:ext cx="2304288" cy="3273552"/>
          </a:xfrm>
          <a:prstGeom prst="roundRect">
            <a:avLst>
              <a:gd name="adj" fmla="val 6349"/>
            </a:avLst>
          </a:prstGeom>
          <a:solidFill>
            <a:srgbClr val="F9FBF8"/>
          </a:solidFill>
          <a:ln w="12700">
            <a:solidFill>
              <a:srgbClr val="F9FB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9072" y="172821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769589"/>
          </a:solidFill>
          <a:ln w="12700">
            <a:solidFill>
              <a:srgbClr val="769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25296" y="2542032"/>
            <a:ext cx="1901952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697480"/>
            <a:ext cx="274320" cy="2743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3896" y="2770632"/>
            <a:ext cx="109728" cy="1097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5648" y="26334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 meal • 20 packs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755648" y="288036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by 7:30 PM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1225296" y="3319272"/>
            <a:ext cx="1901952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71600" y="3474720"/>
            <a:ext cx="274320" cy="274320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3896" y="3547872"/>
            <a:ext cx="109728" cy="1097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5648" y="34107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Bread &amp; pastries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1755648" y="36576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by 9:00 PM</a:t>
            </a:r>
            <a:endParaRPr lang="en-US" sz="680" dirty="0"/>
          </a:p>
        </p:txBody>
      </p:sp>
      <p:sp>
        <p:nvSpPr>
          <p:cNvPr id="19" name="Shape 15"/>
          <p:cNvSpPr/>
          <p:nvPr/>
        </p:nvSpPr>
        <p:spPr>
          <a:xfrm>
            <a:off x="1225296" y="4096512"/>
            <a:ext cx="1901952" cy="612648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12700">
            <a:solidFill>
              <a:srgbClr val="DDE6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371600" y="4251960"/>
            <a:ext cx="274320" cy="274320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3896" y="4325112"/>
            <a:ext cx="109728" cy="1097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55648" y="41879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Vegetable boxes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1755648" y="443484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tomorrow</a:t>
            </a:r>
            <a:endParaRPr lang="en-US" sz="680" dirty="0"/>
          </a:p>
        </p:txBody>
      </p:sp>
      <p:sp>
        <p:nvSpPr>
          <p:cNvPr id="24" name="Shape 19"/>
          <p:cNvSpPr/>
          <p:nvPr/>
        </p:nvSpPr>
        <p:spPr>
          <a:xfrm>
            <a:off x="1444752" y="4846320"/>
            <a:ext cx="1435608" cy="265176"/>
          </a:xfrm>
          <a:prstGeom prst="roundRect">
            <a:avLst>
              <a:gd name="adj" fmla="val 48276"/>
            </a:avLst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444752" y="4901184"/>
            <a:ext cx="1435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TO CHARITY</a:t>
            </a:r>
            <a:endParaRPr lang="en-US" sz="730" dirty="0"/>
          </a:p>
        </p:txBody>
      </p:sp>
      <p:sp>
        <p:nvSpPr>
          <p:cNvPr id="26" name="Shape 21"/>
          <p:cNvSpPr/>
          <p:nvPr/>
        </p:nvSpPr>
        <p:spPr>
          <a:xfrm>
            <a:off x="4023360" y="1700784"/>
            <a:ext cx="3218688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187952" y="1874520"/>
            <a:ext cx="475488" cy="475488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06824" y="198424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82312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visibility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782312" y="21305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Availability, quantity, food type and pickup windows become visible to verified users.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7635240" y="1700784"/>
            <a:ext cx="3218688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799832" y="1874520"/>
            <a:ext cx="475488" cy="475488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8704" y="198424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394192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and proximity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394192" y="21305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demand and capacity can guide assignment to the most suitable charity.</a:t>
            </a:r>
            <a:endParaRPr lang="en-US" sz="870" dirty="0"/>
          </a:p>
        </p:txBody>
      </p:sp>
      <p:sp>
        <p:nvSpPr>
          <p:cNvPr id="36" name="Shape 29"/>
          <p:cNvSpPr/>
          <p:nvPr/>
        </p:nvSpPr>
        <p:spPr>
          <a:xfrm>
            <a:off x="4023360" y="3154680"/>
            <a:ext cx="3218688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187952" y="3328416"/>
            <a:ext cx="475488" cy="475488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6824" y="3438144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782312" y="3300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782312" y="35844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Notifications, status changes and confirmations reduce delays and missed hand-offs.</a:t>
            </a:r>
            <a:endParaRPr lang="en-US" sz="870" dirty="0"/>
          </a:p>
        </p:txBody>
      </p:sp>
      <p:sp>
        <p:nvSpPr>
          <p:cNvPr id="41" name="Shape 33"/>
          <p:cNvSpPr/>
          <p:nvPr/>
        </p:nvSpPr>
        <p:spPr>
          <a:xfrm>
            <a:off x="7635240" y="3154680"/>
            <a:ext cx="3218688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799832" y="3328416"/>
            <a:ext cx="475488" cy="475488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18704" y="3438144"/>
            <a:ext cx="237744" cy="23774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394192" y="3300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accountability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8394192" y="35844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and dashboards support transparency, learning and impact reporting.</a:t>
            </a:r>
            <a:endParaRPr lang="en-US" sz="870" dirty="0"/>
          </a:p>
        </p:txBody>
      </p:sp>
      <p:sp>
        <p:nvSpPr>
          <p:cNvPr id="46" name="Shape 37"/>
          <p:cNvSpPr/>
          <p:nvPr/>
        </p:nvSpPr>
        <p:spPr>
          <a:xfrm>
            <a:off x="4023360" y="4690872"/>
            <a:ext cx="6830568" cy="731520"/>
          </a:xfrm>
          <a:prstGeom prst="roundRect">
            <a:avLst>
              <a:gd name="adj" fmla="val 18750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315968" y="4828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CB6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54,913</a:t>
            </a:r>
            <a:endParaRPr lang="en-US" sz="2000" dirty="0"/>
          </a:p>
        </p:txBody>
      </p:sp>
      <p:sp>
        <p:nvSpPr>
          <p:cNvPr id="48" name="Text 39"/>
          <p:cNvSpPr/>
          <p:nvPr/>
        </p:nvSpPr>
        <p:spPr>
          <a:xfrm>
            <a:off x="5440680" y="476402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food-sharing interactions were analyzed in a longitudinal mobile-app network study, illustrating the scale and network effects digital sharing can achieve.</a:t>
            </a:r>
            <a:endParaRPr lang="en-US" sz="910" dirty="0"/>
          </a:p>
        </p:txBody>
      </p:sp>
      <p:sp>
        <p:nvSpPr>
          <p:cNvPr id="49" name="Text 40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 Almeida Oroski &amp; da Silva (2023); Harvey et al. (2020); Onyeaka et al. (2023).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• THEME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Stakeholder needs determine adoption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successful platform must create value for every participant—not only for the final beneficiary.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163824" cy="3429000"/>
          </a:xfrm>
          <a:prstGeom prst="roundRect">
            <a:avLst>
              <a:gd name="adj" fmla="val 4624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3163824" cy="658368"/>
          </a:xfrm>
          <a:prstGeom prst="roundRect">
            <a:avLst>
              <a:gd name="adj" fmla="val 22222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17647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746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32688" y="2514600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2560320"/>
            <a:ext cx="137160" cy="137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468880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donation flow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932688" y="3072384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3118104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26664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in verified organizations</a:t>
            </a:r>
            <a:endParaRPr lang="en-US" sz="980" dirty="0"/>
          </a:p>
        </p:txBody>
      </p:sp>
      <p:sp>
        <p:nvSpPr>
          <p:cNvPr id="15" name="Shape 10"/>
          <p:cNvSpPr/>
          <p:nvPr/>
        </p:nvSpPr>
        <p:spPr>
          <a:xfrm>
            <a:off x="932688" y="3630168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408" y="3675888"/>
            <a:ext cx="137160" cy="1371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84448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status and impact</a:t>
            </a:r>
            <a:endParaRPr lang="en-US" sz="980" dirty="0"/>
          </a:p>
        </p:txBody>
      </p:sp>
      <p:sp>
        <p:nvSpPr>
          <p:cNvPr id="18" name="Shape 12"/>
          <p:cNvSpPr/>
          <p:nvPr/>
        </p:nvSpPr>
        <p:spPr>
          <a:xfrm>
            <a:off x="932688" y="4187952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408" y="4233672"/>
            <a:ext cx="137160" cy="1371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142232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payment and privacy</a:t>
            </a:r>
            <a:endParaRPr lang="en-US" sz="980" dirty="0"/>
          </a:p>
        </p:txBody>
      </p:sp>
      <p:sp>
        <p:nvSpPr>
          <p:cNvPr id="21" name="Shape 14"/>
          <p:cNvSpPr/>
          <p:nvPr/>
        </p:nvSpPr>
        <p:spPr>
          <a:xfrm>
            <a:off x="4050792" y="1572768"/>
            <a:ext cx="3163824" cy="3429000"/>
          </a:xfrm>
          <a:prstGeom prst="roundRect">
            <a:avLst>
              <a:gd name="adj" fmla="val 4624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050792" y="1572768"/>
            <a:ext cx="3163824" cy="658368"/>
          </a:xfrm>
          <a:prstGeom prst="roundRect">
            <a:avLst>
              <a:gd name="adj" fmla="val 22222"/>
            </a:avLst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8536" y="176479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690872" y="1746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325112" y="2514600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70832" y="2560320"/>
            <a:ext cx="137160" cy="1371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672584" y="2468880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meal-package posting</a:t>
            </a:r>
            <a:endParaRPr lang="en-US" sz="980" dirty="0"/>
          </a:p>
        </p:txBody>
      </p:sp>
      <p:sp>
        <p:nvSpPr>
          <p:cNvPr id="28" name="Shape 19"/>
          <p:cNvSpPr/>
          <p:nvPr/>
        </p:nvSpPr>
        <p:spPr>
          <a:xfrm>
            <a:off x="4325112" y="3072384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70832" y="3118104"/>
            <a:ext cx="137160" cy="1371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672584" y="3026664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collection / hand-off</a:t>
            </a:r>
            <a:endParaRPr lang="en-US" sz="980" dirty="0"/>
          </a:p>
        </p:txBody>
      </p:sp>
      <p:sp>
        <p:nvSpPr>
          <p:cNvPr id="31" name="Shape 21"/>
          <p:cNvSpPr/>
          <p:nvPr/>
        </p:nvSpPr>
        <p:spPr>
          <a:xfrm>
            <a:off x="4325112" y="3630168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70832" y="3675888"/>
            <a:ext cx="137160" cy="1371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672584" y="3584448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Food-safety guidance</a:t>
            </a:r>
            <a:endParaRPr lang="en-US" sz="980" dirty="0"/>
          </a:p>
        </p:txBody>
      </p:sp>
      <p:sp>
        <p:nvSpPr>
          <p:cNvPr id="34" name="Shape 23"/>
          <p:cNvSpPr/>
          <p:nvPr/>
        </p:nvSpPr>
        <p:spPr>
          <a:xfrm>
            <a:off x="4325112" y="4187952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70832" y="4233672"/>
            <a:ext cx="137160" cy="1371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672584" y="4142232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 and reputation value</a:t>
            </a:r>
            <a:endParaRPr lang="en-US" sz="980" dirty="0"/>
          </a:p>
        </p:txBody>
      </p:sp>
      <p:sp>
        <p:nvSpPr>
          <p:cNvPr id="37" name="Shape 25"/>
          <p:cNvSpPr/>
          <p:nvPr/>
        </p:nvSpPr>
        <p:spPr>
          <a:xfrm>
            <a:off x="7443216" y="1572768"/>
            <a:ext cx="3163824" cy="3429000"/>
          </a:xfrm>
          <a:prstGeom prst="roundRect">
            <a:avLst>
              <a:gd name="adj" fmla="val 4624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7443216" y="1572768"/>
            <a:ext cx="3163824" cy="658368"/>
          </a:xfrm>
          <a:prstGeom prst="roundRect">
            <a:avLst>
              <a:gd name="adj" fmla="val 22222"/>
            </a:avLst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680960" y="1764792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083296" y="1746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CHARITIES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7717536" y="2514600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63256" y="2560320"/>
            <a:ext cx="137160" cy="13716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065008" y="2468880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and capacity controls</a:t>
            </a:r>
            <a:endParaRPr lang="en-US" sz="980" dirty="0"/>
          </a:p>
        </p:txBody>
      </p:sp>
      <p:sp>
        <p:nvSpPr>
          <p:cNvPr id="44" name="Shape 30"/>
          <p:cNvSpPr/>
          <p:nvPr/>
        </p:nvSpPr>
        <p:spPr>
          <a:xfrm>
            <a:off x="7717536" y="3072384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763256" y="3118104"/>
            <a:ext cx="137160" cy="13716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065008" y="3026664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food and timing</a:t>
            </a:r>
            <a:endParaRPr lang="en-US" sz="980" dirty="0"/>
          </a:p>
        </p:txBody>
      </p:sp>
      <p:sp>
        <p:nvSpPr>
          <p:cNvPr id="47" name="Shape 32"/>
          <p:cNvSpPr/>
          <p:nvPr/>
        </p:nvSpPr>
        <p:spPr>
          <a:xfrm>
            <a:off x="7717536" y="3630168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63256" y="3675888"/>
            <a:ext cx="137160" cy="13716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8065008" y="3584448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notifications</a:t>
            </a:r>
            <a:endParaRPr lang="en-US" sz="980" dirty="0"/>
          </a:p>
        </p:txBody>
      </p:sp>
      <p:sp>
        <p:nvSpPr>
          <p:cNvPr id="50" name="Shape 34"/>
          <p:cNvSpPr/>
          <p:nvPr/>
        </p:nvSpPr>
        <p:spPr>
          <a:xfrm>
            <a:off x="7717536" y="4187952"/>
            <a:ext cx="228600" cy="22860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E7F1EB"/>
            </a:solidFill>
            <a:prstDash val="solid"/>
          </a:ln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63256" y="4233672"/>
            <a:ext cx="137160" cy="13716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8065008" y="4142232"/>
            <a:ext cx="2212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and records</a:t>
            </a:r>
            <a:endParaRPr lang="en-US" sz="980" dirty="0"/>
          </a:p>
        </p:txBody>
      </p:sp>
      <p:sp>
        <p:nvSpPr>
          <p:cNvPr id="53" name="Shape 36"/>
          <p:cNvSpPr/>
          <p:nvPr/>
        </p:nvSpPr>
        <p:spPr>
          <a:xfrm>
            <a:off x="658368" y="5248656"/>
            <a:ext cx="9948672" cy="585216"/>
          </a:xfrm>
          <a:prstGeom prst="roundRect">
            <a:avLst>
              <a:gd name="adj" fmla="val 21875"/>
            </a:avLst>
          </a:prstGeom>
          <a:solidFill>
            <a:srgbClr val="E6EFEA"/>
          </a:solidFill>
          <a:ln w="12700">
            <a:solidFill>
              <a:srgbClr val="D4E4DB"/>
            </a:solidFill>
            <a:prstDash val="solid"/>
          </a:ln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96112" y="5404104"/>
            <a:ext cx="256032" cy="256032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1316736" y="5358384"/>
            <a:ext cx="8915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Cross-cutting success factors: ease of use • trust • training • clear responsibilities • timely logistics • incentives and recognition</a:t>
            </a:r>
            <a:endParaRPr lang="en-US" sz="1000" dirty="0"/>
          </a:p>
        </p:txBody>
      </p:sp>
      <p:sp>
        <p:nvSpPr>
          <p:cNvPr id="56" name="Text 38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Lagorio &amp; Mangano (2024); Devaraj &amp; Balasubramanian (2025); Thapa Karki et al. (2021); de Almeida Oroski &amp; da Silva (2023).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• THEME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Operational and food-safety barriers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Perishable donations are time-sensitive; platform design must actively manage risk.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96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RISKS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76656" y="1810512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993392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256" y="208483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938528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shelf life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1316736" y="21945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may become unsuitable before collection.</a:t>
            </a:r>
            <a:endParaRPr lang="en-US" sz="770" dirty="0"/>
          </a:p>
        </p:txBody>
      </p:sp>
      <p:sp>
        <p:nvSpPr>
          <p:cNvPr id="11" name="Shape 8"/>
          <p:cNvSpPr/>
          <p:nvPr/>
        </p:nvSpPr>
        <p:spPr>
          <a:xfrm>
            <a:off x="3703320" y="1810512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1993392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1920" y="208483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1938528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control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343400" y="21945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Cooked and chilled foods require appropriate handling.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76656" y="2889504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3816" y="3072384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256" y="316382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16736" y="3017520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reliability</a:t>
            </a:r>
            <a:endParaRPr lang="en-US" sz="980" dirty="0"/>
          </a:p>
        </p:txBody>
      </p:sp>
      <p:sp>
        <p:nvSpPr>
          <p:cNvPr id="20" name="Text 15"/>
          <p:cNvSpPr/>
          <p:nvPr/>
        </p:nvSpPr>
        <p:spPr>
          <a:xfrm>
            <a:off x="1316736" y="32735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or failed pickup can turn surplus into waste.</a:t>
            </a:r>
            <a:endParaRPr lang="en-US" sz="770" dirty="0"/>
          </a:p>
        </p:txBody>
      </p:sp>
      <p:sp>
        <p:nvSpPr>
          <p:cNvPr id="21" name="Shape 16"/>
          <p:cNvSpPr/>
          <p:nvPr/>
        </p:nvSpPr>
        <p:spPr>
          <a:xfrm>
            <a:off x="3703320" y="2889504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40480" y="3072384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1920" y="316382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43400" y="3017520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uncertainty</a:t>
            </a:r>
            <a:endParaRPr lang="en-US" sz="980" dirty="0"/>
          </a:p>
        </p:txBody>
      </p:sp>
      <p:sp>
        <p:nvSpPr>
          <p:cNvPr id="25" name="Text 19"/>
          <p:cNvSpPr/>
          <p:nvPr/>
        </p:nvSpPr>
        <p:spPr>
          <a:xfrm>
            <a:off x="4343400" y="32735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quantity or packaging may differ from the post.</a:t>
            </a:r>
            <a:endParaRPr lang="en-US" sz="770" dirty="0"/>
          </a:p>
        </p:txBody>
      </p:sp>
      <p:sp>
        <p:nvSpPr>
          <p:cNvPr id="26" name="Shape 20"/>
          <p:cNvSpPr/>
          <p:nvPr/>
        </p:nvSpPr>
        <p:spPr>
          <a:xfrm>
            <a:off x="676656" y="3968496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3816" y="4151376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5256" y="42428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16736" y="4096512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and liability</a:t>
            </a:r>
            <a:endParaRPr lang="en-US" sz="980" dirty="0"/>
          </a:p>
        </p:txBody>
      </p:sp>
      <p:sp>
        <p:nvSpPr>
          <p:cNvPr id="30" name="Text 23"/>
          <p:cNvSpPr/>
          <p:nvPr/>
        </p:nvSpPr>
        <p:spPr>
          <a:xfrm>
            <a:off x="1316736" y="43525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Donors and charities need clear standards and responsibilities.</a:t>
            </a:r>
            <a:endParaRPr lang="en-US" sz="770" dirty="0"/>
          </a:p>
        </p:txBody>
      </p:sp>
      <p:sp>
        <p:nvSpPr>
          <p:cNvPr id="31" name="Shape 24"/>
          <p:cNvSpPr/>
          <p:nvPr/>
        </p:nvSpPr>
        <p:spPr>
          <a:xfrm>
            <a:off x="3703320" y="3968496"/>
            <a:ext cx="2779776" cy="850392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840480" y="4151376"/>
            <a:ext cx="365760" cy="365760"/>
          </a:xfrm>
          <a:prstGeom prst="ellipse">
            <a:avLst/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31920" y="424281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343400" y="4096512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4343400" y="43525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records, incidents and outcomes are difficult to verify.</a:t>
            </a:r>
            <a:endParaRPr lang="en-US" sz="770" dirty="0"/>
          </a:p>
        </p:txBody>
      </p:sp>
      <p:sp>
        <p:nvSpPr>
          <p:cNvPr id="36" name="Shape 28"/>
          <p:cNvSpPr/>
          <p:nvPr/>
        </p:nvSpPr>
        <p:spPr>
          <a:xfrm>
            <a:off x="6894576" y="1645920"/>
            <a:ext cx="4572000" cy="3913632"/>
          </a:xfrm>
          <a:prstGeom prst="roundRect">
            <a:avLst>
              <a:gd name="adj" fmla="val 3738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205472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C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CONTROLS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0" y="2350008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562088" y="2313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food details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8942832" y="23134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 time, ingredients, quantity and packaging</a:t>
            </a:r>
            <a:endParaRPr lang="en-US" sz="75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0" y="2834640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562088" y="27980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deadline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8942832" y="27980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 window and automatic timeout</a:t>
            </a:r>
            <a:endParaRPr lang="en-US" sz="75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23760" y="3319272"/>
            <a:ext cx="201168" cy="20116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562088" y="32826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roles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8942832" y="3282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restaurants and charities</a:t>
            </a:r>
            <a:endParaRPr lang="en-US" sz="75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23760" y="3803904"/>
            <a:ext cx="201168" cy="20116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562088" y="3767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Escalating alerts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8942832" y="37673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 before collection windows close</a:t>
            </a:r>
            <a:endParaRPr lang="en-US" sz="75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223760" y="4288536"/>
            <a:ext cx="201168" cy="20116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562088" y="42519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confirmation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8942832" y="4251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and charity confirm hand-off</a:t>
            </a:r>
            <a:endParaRPr lang="en-US" sz="75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23760" y="4773168"/>
            <a:ext cx="201168" cy="201168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7562088" y="47365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8942832" y="473659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9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history for accountability and evaluation</a:t>
            </a:r>
            <a:endParaRPr lang="en-US" sz="750" dirty="0"/>
          </a:p>
        </p:txBody>
      </p:sp>
      <p:sp>
        <p:nvSpPr>
          <p:cNvPr id="56" name="Text 42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Bierma, Jin &amp; Bazan (2019); De Boeck et al. (2017); Devaraj &amp; Balasubramanian (2025).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• COMPARATIVE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Existing platform archetypes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demonstrate useful models, but they do not fully combine FoodForward’s charity-centered workflow.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2057400" cy="512064"/>
          </a:xfrm>
          <a:prstGeom prst="rect">
            <a:avLst/>
          </a:prstGeom>
          <a:solidFill>
            <a:srgbClr val="123D31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7393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715768" y="1627632"/>
            <a:ext cx="2249424" cy="512064"/>
          </a:xfrm>
          <a:prstGeom prst="rect">
            <a:avLst/>
          </a:prstGeom>
          <a:solidFill>
            <a:srgbClr val="1F7A5A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7739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FLOW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965192" y="1627632"/>
            <a:ext cx="2249424" cy="512064"/>
          </a:xfrm>
          <a:prstGeom prst="rect">
            <a:avLst/>
          </a:prstGeom>
          <a:solidFill>
            <a:srgbClr val="1F7A5A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38344" y="17739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214616" y="1627632"/>
            <a:ext cx="2304288" cy="512064"/>
          </a:xfrm>
          <a:prstGeom prst="rect">
            <a:avLst/>
          </a:prstGeom>
          <a:solidFill>
            <a:srgbClr val="1F7A5A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7768" y="177393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LIMITATION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9518904" y="1627632"/>
            <a:ext cx="2304288" cy="512064"/>
          </a:xfrm>
          <a:prstGeom prst="rect">
            <a:avLst/>
          </a:prstGeom>
          <a:solidFill>
            <a:srgbClr val="1F7A5A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056" y="177393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RELEVANCE TO FOODFORWARD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58368" y="2139696"/>
            <a:ext cx="2057400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" y="2386584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15568" y="230428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marketplace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2715768" y="2139696"/>
            <a:ext cx="2249424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25496" y="2249424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→ consumer purchase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965192" y="2139696"/>
            <a:ext cx="2249424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2249424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incentive and scalable transaction model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7214616" y="2139696"/>
            <a:ext cx="2304288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24344" y="2249424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charity-first; redistribution depends on consumer demand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9518904" y="2139696"/>
            <a:ext cx="2304288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28632" y="2249424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how standardized listings and payment can reduce friction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58368" y="2990088"/>
            <a:ext cx="2057400" cy="850392"/>
          </a:xfrm>
          <a:prstGeom prst="rect">
            <a:avLst/>
          </a:prstGeom>
          <a:solidFill>
            <a:srgbClr val="F7FAF8"/>
          </a:solidFill>
          <a:ln w="10160">
            <a:solidFill>
              <a:srgbClr val="D7DED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" y="3236976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15568" y="31546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Peer-to-peer sharing</a:t>
            </a:r>
            <a:endParaRPr lang="en-US" sz="910" dirty="0"/>
          </a:p>
        </p:txBody>
      </p:sp>
      <p:sp>
        <p:nvSpPr>
          <p:cNvPr id="29" name="Shape 25"/>
          <p:cNvSpPr/>
          <p:nvPr/>
        </p:nvSpPr>
        <p:spPr>
          <a:xfrm>
            <a:off x="2715768" y="2990088"/>
            <a:ext cx="2249424" cy="850392"/>
          </a:xfrm>
          <a:prstGeom prst="rect">
            <a:avLst/>
          </a:prstGeom>
          <a:solidFill>
            <a:srgbClr val="F7FA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825496" y="309981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/ business → local user</a:t>
            </a:r>
            <a:endParaRPr lang="en-US" sz="760" dirty="0"/>
          </a:p>
        </p:txBody>
      </p:sp>
      <p:sp>
        <p:nvSpPr>
          <p:cNvPr id="31" name="Shape 27"/>
          <p:cNvSpPr/>
          <p:nvPr/>
        </p:nvSpPr>
        <p:spPr>
          <a:xfrm>
            <a:off x="4965192" y="2990088"/>
            <a:ext cx="2249424" cy="850392"/>
          </a:xfrm>
          <a:prstGeom prst="rect">
            <a:avLst/>
          </a:prstGeom>
          <a:solidFill>
            <a:srgbClr val="F7FA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309981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network effects and local reach</a:t>
            </a:r>
            <a:endParaRPr lang="en-US" sz="760" dirty="0"/>
          </a:p>
        </p:txBody>
      </p:sp>
      <p:sp>
        <p:nvSpPr>
          <p:cNvPr id="33" name="Shape 29"/>
          <p:cNvSpPr/>
          <p:nvPr/>
        </p:nvSpPr>
        <p:spPr>
          <a:xfrm>
            <a:off x="7214616" y="2990088"/>
            <a:ext cx="2304288" cy="850392"/>
          </a:xfrm>
          <a:prstGeom prst="rect">
            <a:avLst/>
          </a:prstGeom>
          <a:solidFill>
            <a:srgbClr val="F7FA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324344" y="3099816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verification, quality and pickup reliability</a:t>
            </a:r>
            <a:endParaRPr lang="en-US" sz="760" dirty="0"/>
          </a:p>
        </p:txBody>
      </p:sp>
      <p:sp>
        <p:nvSpPr>
          <p:cNvPr id="35" name="Shape 31"/>
          <p:cNvSpPr/>
          <p:nvPr/>
        </p:nvSpPr>
        <p:spPr>
          <a:xfrm>
            <a:off x="9518904" y="2990088"/>
            <a:ext cx="2304288" cy="850392"/>
          </a:xfrm>
          <a:prstGeom prst="rect">
            <a:avLst/>
          </a:prstGeom>
          <a:solidFill>
            <a:srgbClr val="F7FA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628632" y="3099816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proximity, notifications and social trust features</a:t>
            </a:r>
            <a:endParaRPr lang="en-US" sz="760" dirty="0"/>
          </a:p>
        </p:txBody>
      </p:sp>
      <p:sp>
        <p:nvSpPr>
          <p:cNvPr id="37" name="Shape 33"/>
          <p:cNvSpPr/>
          <p:nvPr/>
        </p:nvSpPr>
        <p:spPr>
          <a:xfrm>
            <a:off x="658368" y="3840480"/>
            <a:ext cx="2057400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" y="4087368"/>
            <a:ext cx="228600" cy="2286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15568" y="4005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Donation coordination</a:t>
            </a:r>
            <a:endParaRPr lang="en-US" sz="910" dirty="0"/>
          </a:p>
        </p:txBody>
      </p:sp>
      <p:sp>
        <p:nvSpPr>
          <p:cNvPr id="40" name="Shape 35"/>
          <p:cNvSpPr/>
          <p:nvPr/>
        </p:nvSpPr>
        <p:spPr>
          <a:xfrm>
            <a:off x="2715768" y="3840480"/>
            <a:ext cx="2249424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825496" y="395020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→ food bank / NGO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4965192" y="3840480"/>
            <a:ext cx="2249424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074920" y="395020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social mission and organizational partnerships</a:t>
            </a:r>
            <a:endParaRPr lang="en-US" sz="760" dirty="0"/>
          </a:p>
        </p:txBody>
      </p:sp>
      <p:sp>
        <p:nvSpPr>
          <p:cNvPr id="44" name="Shape 39"/>
          <p:cNvSpPr/>
          <p:nvPr/>
        </p:nvSpPr>
        <p:spPr>
          <a:xfrm>
            <a:off x="7214616" y="3840480"/>
            <a:ext cx="2304288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324344" y="3950208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lack transparent demand prioritization or donor choice</a:t>
            </a:r>
            <a:endParaRPr lang="en-US" sz="760" dirty="0"/>
          </a:p>
        </p:txBody>
      </p:sp>
      <p:sp>
        <p:nvSpPr>
          <p:cNvPr id="46" name="Shape 41"/>
          <p:cNvSpPr/>
          <p:nvPr/>
        </p:nvSpPr>
        <p:spPr>
          <a:xfrm>
            <a:off x="9518904" y="3840480"/>
            <a:ext cx="2304288" cy="850392"/>
          </a:xfrm>
          <a:prstGeom prst="rect">
            <a:avLst/>
          </a:prstGeom>
          <a:solidFill>
            <a:srgbClr val="FFFDF8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628632" y="3950208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Closest operational precedent for charity matching</a:t>
            </a:r>
            <a:endParaRPr lang="en-US" sz="760" dirty="0"/>
          </a:p>
        </p:txBody>
      </p:sp>
      <p:sp>
        <p:nvSpPr>
          <p:cNvPr id="48" name="Shape 43"/>
          <p:cNvSpPr/>
          <p:nvPr/>
        </p:nvSpPr>
        <p:spPr>
          <a:xfrm>
            <a:off x="658368" y="4690872"/>
            <a:ext cx="2057400" cy="850392"/>
          </a:xfrm>
          <a:prstGeom prst="rect">
            <a:avLst/>
          </a:prstGeom>
          <a:solidFill>
            <a:srgbClr val="DDECE4"/>
          </a:solidFill>
          <a:ln w="10160">
            <a:solidFill>
              <a:srgbClr val="D7DED8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384" y="4937760"/>
            <a:ext cx="228600" cy="22860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115568" y="485546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FoodForward concept</a:t>
            </a:r>
            <a:endParaRPr lang="en-US" sz="910" dirty="0"/>
          </a:p>
        </p:txBody>
      </p:sp>
      <p:sp>
        <p:nvSpPr>
          <p:cNvPr id="51" name="Shape 45"/>
          <p:cNvSpPr/>
          <p:nvPr/>
        </p:nvSpPr>
        <p:spPr>
          <a:xfrm>
            <a:off x="2715768" y="4690872"/>
            <a:ext cx="2249424" cy="850392"/>
          </a:xfrm>
          <a:prstGeom prst="rect">
            <a:avLst/>
          </a:prstGeom>
          <a:solidFill>
            <a:srgbClr val="EDF4EF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2825496" y="480060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 funds meal → restaurant → charity</a:t>
            </a:r>
            <a:endParaRPr lang="en-US" sz="760" dirty="0"/>
          </a:p>
        </p:txBody>
      </p:sp>
      <p:sp>
        <p:nvSpPr>
          <p:cNvPr id="53" name="Shape 47"/>
          <p:cNvSpPr/>
          <p:nvPr/>
        </p:nvSpPr>
        <p:spPr>
          <a:xfrm>
            <a:off x="4965192" y="4690872"/>
            <a:ext cx="2249424" cy="850392"/>
          </a:xfrm>
          <a:prstGeom prst="rect">
            <a:avLst/>
          </a:prstGeom>
          <a:solidFill>
            <a:srgbClr val="EDF4EF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074920" y="480060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meal package, traceability and choice</a:t>
            </a:r>
            <a:endParaRPr lang="en-US" sz="760" dirty="0"/>
          </a:p>
        </p:txBody>
      </p:sp>
      <p:sp>
        <p:nvSpPr>
          <p:cNvPr id="55" name="Shape 49"/>
          <p:cNvSpPr/>
          <p:nvPr/>
        </p:nvSpPr>
        <p:spPr>
          <a:xfrm>
            <a:off x="7214616" y="4690872"/>
            <a:ext cx="2304288" cy="850392"/>
          </a:xfrm>
          <a:prstGeom prst="rect">
            <a:avLst/>
          </a:prstGeom>
          <a:solidFill>
            <a:srgbClr val="EDF4EF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324344" y="480060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reliable multi-party workflow and verification</a:t>
            </a:r>
            <a:endParaRPr lang="en-US" sz="760" dirty="0"/>
          </a:p>
        </p:txBody>
      </p:sp>
      <p:sp>
        <p:nvSpPr>
          <p:cNvPr id="57" name="Shape 51"/>
          <p:cNvSpPr/>
          <p:nvPr/>
        </p:nvSpPr>
        <p:spPr>
          <a:xfrm>
            <a:off x="9518904" y="4690872"/>
            <a:ext cx="2304288" cy="850392"/>
          </a:xfrm>
          <a:prstGeom prst="rect">
            <a:avLst/>
          </a:prstGeom>
          <a:solidFill>
            <a:srgbClr val="EDF4EF"/>
          </a:solidFill>
          <a:ln w="10160">
            <a:solidFill>
              <a:srgbClr val="D7DED8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9628632" y="480060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payment, preparation, assignment and confirmation</a:t>
            </a:r>
            <a:endParaRPr lang="en-US" sz="760" dirty="0"/>
          </a:p>
        </p:txBody>
      </p:sp>
      <p:sp>
        <p:nvSpPr>
          <p:cNvPr id="59" name="Shape 53"/>
          <p:cNvSpPr/>
          <p:nvPr/>
        </p:nvSpPr>
        <p:spPr>
          <a:xfrm>
            <a:off x="822960" y="562356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6DDC9"/>
          </a:solidFill>
          <a:ln w="12700">
            <a:solidFill>
              <a:srgbClr val="F6DDC9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822960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examples: Too Good To Go / Karma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3794760" y="56235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2EDF2"/>
          </a:solidFill>
          <a:ln w="12700">
            <a:solidFill>
              <a:srgbClr val="E2EDF2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3794760" y="5632704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Peer-sharing example: OLIO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6108192" y="5623560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E9E2F0"/>
          </a:solidFill>
          <a:ln w="12700">
            <a:solidFill>
              <a:srgbClr val="E9E2F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6108192" y="5632704"/>
            <a:ext cx="2880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Donation model: FoodCloud / NGO portals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 Almeida Oroski &amp; da Silva (2023); Harvey et al. (2020); Lagorio &amp; Mangano (2024); Mohod et al. (2024).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• DESIGN SYNTHESIS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Evidence-to-feature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major FoodForward feature is linked to a problem identified in the literature.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1572768"/>
            <a:ext cx="10972800" cy="448056"/>
          </a:xfrm>
          <a:prstGeom prst="roundRect">
            <a:avLst>
              <a:gd name="adj" fmla="val 24490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7099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17099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NEED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17099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EFFECT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7512" y="2139696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231136"/>
            <a:ext cx="329184" cy="329184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2322576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07592" y="22219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registration &amp; verification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4754880" y="22219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intermediary governance</a:t>
            </a:r>
            <a:endParaRPr lang="en-US" sz="8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144" y="232257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75904" y="22219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Safer participation and clearer accountability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667512" y="2752344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1F6F2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" y="2843784"/>
            <a:ext cx="329184" cy="329184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544" y="2935224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07592" y="283464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restaurant meal packages</a:t>
            </a:r>
            <a:endParaRPr lang="en-US" sz="890" dirty="0"/>
          </a:p>
        </p:txBody>
      </p:sp>
      <p:sp>
        <p:nvSpPr>
          <p:cNvPr id="20" name="Text 15"/>
          <p:cNvSpPr/>
          <p:nvPr/>
        </p:nvSpPr>
        <p:spPr>
          <a:xfrm>
            <a:off x="4754880" y="2834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predictable, fit-for-purpose supply</a:t>
            </a:r>
            <a:endParaRPr lang="en-US" sz="82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144" y="2935224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75904" y="2834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donation and food-safety controls</a:t>
            </a:r>
            <a:endParaRPr lang="en-US" sz="820" dirty="0"/>
          </a:p>
        </p:txBody>
      </p:sp>
      <p:sp>
        <p:nvSpPr>
          <p:cNvPr id="23" name="Shape 17"/>
          <p:cNvSpPr/>
          <p:nvPr/>
        </p:nvSpPr>
        <p:spPr>
          <a:xfrm>
            <a:off x="667512" y="336499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32104" y="3456432"/>
            <a:ext cx="329184" cy="329184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544" y="354787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07592" y="344728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Charity demand profiles</a:t>
            </a:r>
            <a:endParaRPr lang="en-US" sz="890" dirty="0"/>
          </a:p>
        </p:txBody>
      </p:sp>
      <p:sp>
        <p:nvSpPr>
          <p:cNvPr id="27" name="Text 20"/>
          <p:cNvSpPr/>
          <p:nvPr/>
        </p:nvSpPr>
        <p:spPr>
          <a:xfrm>
            <a:off x="4754880" y="3447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mismatch and limited demand visibility</a:t>
            </a:r>
            <a:endParaRPr lang="en-US" sz="82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0144" y="3547872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375904" y="34472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matching and fewer rejected donations</a:t>
            </a:r>
            <a:endParaRPr lang="en-US" sz="820" dirty="0"/>
          </a:p>
        </p:txBody>
      </p:sp>
      <p:sp>
        <p:nvSpPr>
          <p:cNvPr id="30" name="Shape 22"/>
          <p:cNvSpPr/>
          <p:nvPr/>
        </p:nvSpPr>
        <p:spPr>
          <a:xfrm>
            <a:off x="667512" y="3977640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1F6F2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2104" y="4069080"/>
            <a:ext cx="329184" cy="329184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3544" y="4160520"/>
            <a:ext cx="146304" cy="14630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07592" y="40599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“Donate Where Needed Most” assignment</a:t>
            </a:r>
            <a:endParaRPr lang="en-US" sz="890" dirty="0"/>
          </a:p>
        </p:txBody>
      </p:sp>
      <p:sp>
        <p:nvSpPr>
          <p:cNvPr id="34" name="Text 25"/>
          <p:cNvSpPr/>
          <p:nvPr/>
        </p:nvSpPr>
        <p:spPr>
          <a:xfrm>
            <a:off x="4754880" y="40599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Unequal distribution and limited prioritization</a:t>
            </a:r>
            <a:endParaRPr lang="en-US" sz="82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10144" y="4160520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375904" y="405993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Fairer allocation using demand and capacity</a:t>
            </a:r>
            <a:endParaRPr lang="en-US" sz="820" dirty="0"/>
          </a:p>
        </p:txBody>
      </p:sp>
      <p:sp>
        <p:nvSpPr>
          <p:cNvPr id="37" name="Shape 27"/>
          <p:cNvSpPr/>
          <p:nvPr/>
        </p:nvSpPr>
        <p:spPr>
          <a:xfrm>
            <a:off x="667512" y="4590288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DF8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32104" y="4681728"/>
            <a:ext cx="329184" cy="329184"/>
          </a:xfrm>
          <a:prstGeom prst="ellipse">
            <a:avLst/>
          </a:prstGeom>
          <a:solidFill>
            <a:srgbClr val="D9634D"/>
          </a:solidFill>
          <a:ln w="12700">
            <a:solidFill>
              <a:srgbClr val="D9634D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3544" y="4773168"/>
            <a:ext cx="146304" cy="14630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307592" y="46725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and status tracking</a:t>
            </a:r>
            <a:endParaRPr lang="en-US" sz="890" dirty="0"/>
          </a:p>
        </p:txBody>
      </p:sp>
      <p:sp>
        <p:nvSpPr>
          <p:cNvPr id="41" name="Text 30"/>
          <p:cNvSpPr/>
          <p:nvPr/>
        </p:nvSpPr>
        <p:spPr>
          <a:xfrm>
            <a:off x="4754880" y="4672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sensitivity and failed hand-offs</a:t>
            </a:r>
            <a:endParaRPr lang="en-US" sz="82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10144" y="4773168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375904" y="467258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response and higher completion rates</a:t>
            </a:r>
            <a:endParaRPr lang="en-US" sz="820" dirty="0"/>
          </a:p>
        </p:txBody>
      </p:sp>
      <p:sp>
        <p:nvSpPr>
          <p:cNvPr id="44" name="Shape 32"/>
          <p:cNvSpPr/>
          <p:nvPr/>
        </p:nvSpPr>
        <p:spPr>
          <a:xfrm>
            <a:off x="667512" y="5202936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1F6F2"/>
          </a:solidFill>
          <a:ln w="10160">
            <a:solidFill>
              <a:srgbClr val="DDE4DF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32104" y="5294376"/>
            <a:ext cx="329184" cy="329184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3544" y="5385816"/>
            <a:ext cx="146304" cy="14630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307592" y="52852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Donation history and dashboards</a:t>
            </a:r>
            <a:endParaRPr lang="en-US" sz="890" dirty="0"/>
          </a:p>
        </p:txBody>
      </p:sp>
      <p:sp>
        <p:nvSpPr>
          <p:cNvPr id="48" name="Text 35"/>
          <p:cNvSpPr/>
          <p:nvPr/>
        </p:nvSpPr>
        <p:spPr>
          <a:xfrm>
            <a:off x="4754880" y="5285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transparency and limited evaluation</a:t>
            </a:r>
            <a:endParaRPr lang="en-US" sz="82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10144" y="5385816"/>
            <a:ext cx="164592" cy="164592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375904" y="52852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retention and measurable social impact</a:t>
            </a:r>
            <a:endParaRPr lang="en-US" sz="820" dirty="0"/>
          </a:p>
        </p:txBody>
      </p:sp>
      <p:sp>
        <p:nvSpPr>
          <p:cNvPr id="51" name="Text 37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implications synthesized from the reviewed platform, supply-chain, hospitality, AI and safety literature.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• RESEARCH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is still missing?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is not the absence of donation apps—it is the lack of an integrated, demand-aware and transparent ecosystem.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664208"/>
            <a:ext cx="2267712" cy="283464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901952"/>
            <a:ext cx="841248" cy="841248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6776" y="21488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29718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Fragmented models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905256" y="3529584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often treats resale, peer sharing, donation logistics or waste prevention as separate systems.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3529584" y="1664208"/>
            <a:ext cx="2267712" cy="283464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901952"/>
            <a:ext cx="841248" cy="841248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9704" y="21488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8184" y="29718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Weak demand prioritization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3758184" y="3529584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platforms match availability, but fewer explain fair allocation across charities with different needs.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6382512" y="1664208"/>
            <a:ext cx="2267712" cy="283464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95744" y="1901952"/>
            <a:ext cx="841248" cy="841248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632" y="21488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11112" y="29718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Limited end-to-end transparency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6611112" y="3529584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Posting and acceptance are common; preparation, hand-off, confirmation and impact reporting receive less attention.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9235440" y="1664208"/>
            <a:ext cx="2267712" cy="283464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48672" y="1901952"/>
            <a:ext cx="841248" cy="841248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5560" y="2148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29718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Local evidence gap</a:t>
            </a:r>
            <a:endParaRPr lang="en-US" sz="1220" dirty="0"/>
          </a:p>
        </p:txBody>
      </p:sp>
      <p:sp>
        <p:nvSpPr>
          <p:cNvPr id="24" name="Text 18"/>
          <p:cNvSpPr/>
          <p:nvPr/>
        </p:nvSpPr>
        <p:spPr>
          <a:xfrm>
            <a:off x="9464040" y="3529584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Bangladesh-specific studies document food waste and insecurity, but integrated platform evaluation remains limited.</a:t>
            </a:r>
            <a:endParaRPr lang="en-US" sz="820" dirty="0"/>
          </a:p>
        </p:txBody>
      </p:sp>
      <p:sp>
        <p:nvSpPr>
          <p:cNvPr id="25" name="Shape 19"/>
          <p:cNvSpPr/>
          <p:nvPr/>
        </p:nvSpPr>
        <p:spPr>
          <a:xfrm>
            <a:off x="1371600" y="4818888"/>
            <a:ext cx="9454896" cy="676656"/>
          </a:xfrm>
          <a:prstGeom prst="roundRect">
            <a:avLst>
              <a:gd name="adj" fmla="val 21622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64208" y="501091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84832" y="493776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FoodForward contribution: a donor-funded meal workflow that connects verified restaurants and charities, adds demand-based assignment, and tracks the donation from payment to confirmed receipt.</a:t>
            </a:r>
            <a:endParaRPr lang="en-US" sz="1020" dirty="0"/>
          </a:p>
        </p:txBody>
      </p:sp>
      <p:sp>
        <p:nvSpPr>
          <p:cNvPr id="28" name="Text 21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Carvalho et al. (2025); de Almeida Oroski &amp; da Silva (2023); Thapa Karki et al. (2021); Mohod et al. (2024); Jahan (2025).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• PROPOSED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FoodForward conceptual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coordinates information, transactions and accountability across three stakeholder groups.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798064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65376"/>
            <a:ext cx="438912" cy="43891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1819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 intent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1408176" y="208483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meal package, charity or “needed most”</a:t>
            </a:r>
            <a:endParaRPr lang="en-US" sz="79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024" y="20116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2962656"/>
            <a:ext cx="2798064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3163824"/>
            <a:ext cx="438912" cy="438912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832" y="32826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118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supply</a:t>
            </a:r>
            <a:endParaRPr lang="en-US" sz="1020" dirty="0"/>
          </a:p>
        </p:txBody>
      </p:sp>
      <p:sp>
        <p:nvSpPr>
          <p:cNvPr id="15" name="Text 10"/>
          <p:cNvSpPr/>
          <p:nvPr/>
        </p:nvSpPr>
        <p:spPr>
          <a:xfrm>
            <a:off x="1408176" y="338328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menu, price, quantity and preparation status</a:t>
            </a:r>
            <a:endParaRPr lang="en-US" sz="79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1024" y="3310128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8368" y="4261104"/>
            <a:ext cx="2798064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4462272"/>
            <a:ext cx="438912" cy="43891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832" y="458114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08176" y="44165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Charity demand</a:t>
            </a:r>
            <a:endParaRPr lang="en-US" sz="1020" dirty="0"/>
          </a:p>
        </p:txBody>
      </p:sp>
      <p:sp>
        <p:nvSpPr>
          <p:cNvPr id="21" name="Text 14"/>
          <p:cNvSpPr/>
          <p:nvPr/>
        </p:nvSpPr>
        <p:spPr>
          <a:xfrm>
            <a:off x="1408176" y="46817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need, capacity, location and acceptance rules</a:t>
            </a:r>
            <a:endParaRPr lang="en-US" sz="79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1024" y="4608576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041648" y="1572768"/>
            <a:ext cx="3986784" cy="3840480"/>
          </a:xfrm>
          <a:prstGeom prst="roundRect">
            <a:avLst>
              <a:gd name="adj" fmla="val 4286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425696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9CC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PROCESS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5696" y="2313432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73168" y="2286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Create donation</a:t>
            </a:r>
            <a:endParaRPr lang="en-US" sz="880" dirty="0"/>
          </a:p>
        </p:txBody>
      </p:sp>
      <p:sp>
        <p:nvSpPr>
          <p:cNvPr id="27" name="Text 18"/>
          <p:cNvSpPr/>
          <p:nvPr/>
        </p:nvSpPr>
        <p:spPr>
          <a:xfrm>
            <a:off x="6144768" y="2286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and order record</a:t>
            </a:r>
            <a:endParaRPr lang="en-US" sz="74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25696" y="2788920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773168" y="2761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Match / assign</a:t>
            </a:r>
            <a:endParaRPr lang="en-US" sz="880" dirty="0"/>
          </a:p>
        </p:txBody>
      </p:sp>
      <p:sp>
        <p:nvSpPr>
          <p:cNvPr id="30" name="Text 20"/>
          <p:cNvSpPr/>
          <p:nvPr/>
        </p:nvSpPr>
        <p:spPr>
          <a:xfrm>
            <a:off x="6144768" y="2761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charity or demand-based allocation</a:t>
            </a:r>
            <a:endParaRPr lang="en-US" sz="74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25696" y="3264408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773168" y="32369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Prepare meal</a:t>
            </a:r>
            <a:endParaRPr lang="en-US" sz="880" dirty="0"/>
          </a:p>
        </p:txBody>
      </p:sp>
      <p:sp>
        <p:nvSpPr>
          <p:cNvPr id="33" name="Text 22"/>
          <p:cNvSpPr/>
          <p:nvPr/>
        </p:nvSpPr>
        <p:spPr>
          <a:xfrm>
            <a:off x="6144768" y="32369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updates status</a:t>
            </a:r>
            <a:endParaRPr lang="en-US" sz="74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25696" y="3739896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773168" y="37124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Hand off</a:t>
            </a:r>
            <a:endParaRPr lang="en-US" sz="880" dirty="0"/>
          </a:p>
        </p:txBody>
      </p:sp>
      <p:sp>
        <p:nvSpPr>
          <p:cNvPr id="36" name="Text 24"/>
          <p:cNvSpPr/>
          <p:nvPr/>
        </p:nvSpPr>
        <p:spPr>
          <a:xfrm>
            <a:off x="6144768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Pickup or delivery within the safe window</a:t>
            </a:r>
            <a:endParaRPr lang="en-US" sz="74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25696" y="4215384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773168" y="41879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Confirm receipt</a:t>
            </a:r>
            <a:endParaRPr lang="en-US" sz="880" dirty="0"/>
          </a:p>
        </p:txBody>
      </p:sp>
      <p:sp>
        <p:nvSpPr>
          <p:cNvPr id="39" name="Text 26"/>
          <p:cNvSpPr/>
          <p:nvPr/>
        </p:nvSpPr>
        <p:spPr>
          <a:xfrm>
            <a:off x="6144768" y="41879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Charity verifies quantity and completion</a:t>
            </a:r>
            <a:endParaRPr lang="en-US" sz="74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25696" y="4690872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773168" y="4663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Report impact</a:t>
            </a:r>
            <a:endParaRPr lang="en-US" sz="880" dirty="0"/>
          </a:p>
        </p:txBody>
      </p:sp>
      <p:sp>
        <p:nvSpPr>
          <p:cNvPr id="42" name="Text 28"/>
          <p:cNvSpPr/>
          <p:nvPr/>
        </p:nvSpPr>
        <p:spPr>
          <a:xfrm>
            <a:off x="6144768" y="4663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7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History, meals and distribution metrics</a:t>
            </a:r>
            <a:endParaRPr lang="en-US" sz="74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11312" y="3255264"/>
            <a:ext cx="329184" cy="329184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650224" y="1572768"/>
            <a:ext cx="2898648" cy="3840480"/>
          </a:xfrm>
          <a:prstGeom prst="roundRect">
            <a:avLst>
              <a:gd name="adj" fmla="val 5678"/>
            </a:avLst>
          </a:prstGeom>
          <a:solidFill>
            <a:srgbClr val="EAF2ED"/>
          </a:solidFill>
          <a:ln w="12700">
            <a:solidFill>
              <a:srgbClr val="D3E2D9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8942832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46" name="Shape 31"/>
          <p:cNvSpPr/>
          <p:nvPr/>
        </p:nvSpPr>
        <p:spPr>
          <a:xfrm>
            <a:off x="8961120" y="23225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034272" y="2395728"/>
            <a:ext cx="128016" cy="128016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9372600" y="2350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edible food wasted</a:t>
            </a:r>
            <a:endParaRPr lang="en-US" sz="840" dirty="0"/>
          </a:p>
        </p:txBody>
      </p:sp>
      <p:sp>
        <p:nvSpPr>
          <p:cNvPr id="49" name="Shape 33"/>
          <p:cNvSpPr/>
          <p:nvPr/>
        </p:nvSpPr>
        <p:spPr>
          <a:xfrm>
            <a:off x="8961120" y="27797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034272" y="2852928"/>
            <a:ext cx="128016" cy="128016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9372600" y="28072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meals reach charities</a:t>
            </a:r>
            <a:endParaRPr lang="en-US" sz="840" dirty="0"/>
          </a:p>
        </p:txBody>
      </p:sp>
      <p:sp>
        <p:nvSpPr>
          <p:cNvPr id="52" name="Shape 35"/>
          <p:cNvSpPr/>
          <p:nvPr/>
        </p:nvSpPr>
        <p:spPr>
          <a:xfrm>
            <a:off x="8961120" y="32369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034272" y="3310128"/>
            <a:ext cx="128016" cy="128016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9372600" y="32644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matching and completion</a:t>
            </a:r>
            <a:endParaRPr lang="en-US" sz="840" dirty="0"/>
          </a:p>
        </p:txBody>
      </p:sp>
      <p:sp>
        <p:nvSpPr>
          <p:cNvPr id="55" name="Shape 37"/>
          <p:cNvSpPr/>
          <p:nvPr/>
        </p:nvSpPr>
        <p:spPr>
          <a:xfrm>
            <a:off x="8961120" y="36941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34272" y="3767328"/>
            <a:ext cx="128016" cy="128016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9372600" y="3721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Fairer distribution</a:t>
            </a:r>
            <a:endParaRPr lang="en-US" sz="840" dirty="0"/>
          </a:p>
        </p:txBody>
      </p:sp>
      <p:sp>
        <p:nvSpPr>
          <p:cNvPr id="58" name="Shape 39"/>
          <p:cNvSpPr/>
          <p:nvPr/>
        </p:nvSpPr>
        <p:spPr>
          <a:xfrm>
            <a:off x="8961120" y="41513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034272" y="4224528"/>
            <a:ext cx="128016" cy="128016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9372600" y="4178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Greater transparency</a:t>
            </a:r>
            <a:endParaRPr lang="en-US" sz="840" dirty="0"/>
          </a:p>
        </p:txBody>
      </p:sp>
      <p:sp>
        <p:nvSpPr>
          <p:cNvPr id="61" name="Shape 41"/>
          <p:cNvSpPr/>
          <p:nvPr/>
        </p:nvSpPr>
        <p:spPr>
          <a:xfrm>
            <a:off x="8961120" y="46085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034272" y="4681728"/>
            <a:ext cx="128016" cy="128016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9372600" y="4636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collaboration</a:t>
            </a:r>
            <a:endParaRPr lang="en-US" sz="840" dirty="0"/>
          </a:p>
        </p:txBody>
      </p:sp>
      <p:sp>
        <p:nvSpPr>
          <p:cNvPr id="64" name="Shape 43"/>
          <p:cNvSpPr/>
          <p:nvPr/>
        </p:nvSpPr>
        <p:spPr>
          <a:xfrm>
            <a:off x="8942832" y="477316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6DDC9"/>
          </a:solidFill>
          <a:ln w="12700">
            <a:solidFill>
              <a:srgbClr val="F6DDC9"/>
            </a:solidFill>
            <a:prstDash val="solid"/>
          </a:ln>
        </p:spPr>
      </p:sp>
      <p:sp>
        <p:nvSpPr>
          <p:cNvPr id="65" name="Text 44"/>
          <p:cNvSpPr/>
          <p:nvPr/>
        </p:nvSpPr>
        <p:spPr>
          <a:xfrm>
            <a:off x="8942832" y="4782312"/>
            <a:ext cx="1143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2 • Zero Hunger</a:t>
            </a:r>
            <a:endParaRPr lang="en-US" sz="850" dirty="0"/>
          </a:p>
        </p:txBody>
      </p:sp>
      <p:sp>
        <p:nvSpPr>
          <p:cNvPr id="66" name="Shape 45"/>
          <p:cNvSpPr/>
          <p:nvPr/>
        </p:nvSpPr>
        <p:spPr>
          <a:xfrm>
            <a:off x="10168128" y="4773168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67" name="Text 46"/>
          <p:cNvSpPr/>
          <p:nvPr/>
        </p:nvSpPr>
        <p:spPr>
          <a:xfrm>
            <a:off x="10168128" y="4782312"/>
            <a:ext cx="11247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12 • Responsible Consumption</a:t>
            </a:r>
            <a:endParaRPr lang="en-US" sz="850" dirty="0"/>
          </a:p>
        </p:txBody>
      </p:sp>
      <p:sp>
        <p:nvSpPr>
          <p:cNvPr id="68" name="Text 47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model developed from the literature synthesis and the proposed FoodForward project requirements.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•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Key conclusions and evaluation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literature supports FoodForward—but success should be demonstrated with measurable outcomes.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4944" y="1627632"/>
            <a:ext cx="2980944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801368"/>
            <a:ext cx="475488" cy="475488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408" y="19110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3896" y="177393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supports digital coordination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53896" y="20574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can improve visibility, matching, communication and tracking across food-sharing networks.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4078224" y="1627632"/>
            <a:ext cx="2980944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801368"/>
            <a:ext cx="475488" cy="475488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688" y="19110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37176" y="177393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is necessary, not sufficient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37176" y="20574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food safety, logistics, training and clear governance remain decisive.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7461504" y="1627632"/>
            <a:ext cx="2980944" cy="102412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26096" y="1801368"/>
            <a:ext cx="475488" cy="475488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4968" y="19110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0456" y="177393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FoodForward has a defensible gap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0456" y="205740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integrated purchase-to-donate flow and demand-based charity assignment are meaningful differentiators.</a:t>
            </a:r>
            <a:endParaRPr lang="en-US" sz="870" dirty="0"/>
          </a:p>
        </p:txBody>
      </p:sp>
      <p:sp>
        <p:nvSpPr>
          <p:cNvPr id="20" name="Text 15"/>
          <p:cNvSpPr/>
          <p:nvPr/>
        </p:nvSpPr>
        <p:spPr>
          <a:xfrm>
            <a:off x="713232" y="29443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EVALUATION METRICS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94944" y="3273552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824" y="345643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9304" y="33924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match time</a:t>
            </a:r>
            <a:endParaRPr lang="en-US" sz="930" dirty="0"/>
          </a:p>
        </p:txBody>
      </p:sp>
      <p:sp>
        <p:nvSpPr>
          <p:cNvPr id="24" name="Text 18"/>
          <p:cNvSpPr/>
          <p:nvPr/>
        </p:nvSpPr>
        <p:spPr>
          <a:xfrm>
            <a:off x="2542032" y="338328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quickly a donation is assigned</a:t>
            </a:r>
            <a:endParaRPr lang="en-US" sz="730" dirty="0"/>
          </a:p>
        </p:txBody>
      </p:sp>
      <p:sp>
        <p:nvSpPr>
          <p:cNvPr id="25" name="Shape 19"/>
          <p:cNvSpPr/>
          <p:nvPr/>
        </p:nvSpPr>
        <p:spPr>
          <a:xfrm>
            <a:off x="4407408" y="3273552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0288" y="34564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33924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rate</a:t>
            </a:r>
            <a:endParaRPr lang="en-US" sz="930" dirty="0"/>
          </a:p>
        </p:txBody>
      </p:sp>
      <p:sp>
        <p:nvSpPr>
          <p:cNvPr id="28" name="Text 21"/>
          <p:cNvSpPr/>
          <p:nvPr/>
        </p:nvSpPr>
        <p:spPr>
          <a:xfrm>
            <a:off x="6254496" y="338328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 of paid donations confirmed</a:t>
            </a:r>
            <a:endParaRPr lang="en-US" sz="730" dirty="0"/>
          </a:p>
        </p:txBody>
      </p:sp>
      <p:sp>
        <p:nvSpPr>
          <p:cNvPr id="29" name="Shape 22"/>
          <p:cNvSpPr/>
          <p:nvPr/>
        </p:nvSpPr>
        <p:spPr>
          <a:xfrm>
            <a:off x="8119872" y="3273552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2752" y="345643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14232" y="33924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Meals delivered</a:t>
            </a:r>
            <a:endParaRPr lang="en-US" sz="930" dirty="0"/>
          </a:p>
        </p:txBody>
      </p:sp>
      <p:sp>
        <p:nvSpPr>
          <p:cNvPr id="32" name="Text 24"/>
          <p:cNvSpPr/>
          <p:nvPr/>
        </p:nvSpPr>
        <p:spPr>
          <a:xfrm>
            <a:off x="9966960" y="338328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and value reaching charities</a:t>
            </a:r>
            <a:endParaRPr lang="en-US" sz="730" dirty="0"/>
          </a:p>
        </p:txBody>
      </p:sp>
      <p:sp>
        <p:nvSpPr>
          <p:cNvPr id="33" name="Shape 25"/>
          <p:cNvSpPr/>
          <p:nvPr/>
        </p:nvSpPr>
        <p:spPr>
          <a:xfrm>
            <a:off x="694944" y="4261104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7824" y="4443984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89304" y="437997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equity</a:t>
            </a:r>
            <a:endParaRPr lang="en-US" sz="930" dirty="0"/>
          </a:p>
        </p:txBody>
      </p:sp>
      <p:sp>
        <p:nvSpPr>
          <p:cNvPr id="36" name="Text 27"/>
          <p:cNvSpPr/>
          <p:nvPr/>
        </p:nvSpPr>
        <p:spPr>
          <a:xfrm>
            <a:off x="2542032" y="4370832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allocated across need levels</a:t>
            </a:r>
            <a:endParaRPr lang="en-US" sz="730" dirty="0"/>
          </a:p>
        </p:txBody>
      </p:sp>
      <p:sp>
        <p:nvSpPr>
          <p:cNvPr id="37" name="Shape 28"/>
          <p:cNvSpPr/>
          <p:nvPr/>
        </p:nvSpPr>
        <p:spPr>
          <a:xfrm>
            <a:off x="4407408" y="4261104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0288" y="444398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001768" y="437997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930" dirty="0"/>
          </a:p>
        </p:txBody>
      </p:sp>
      <p:sp>
        <p:nvSpPr>
          <p:cNvPr id="40" name="Text 30"/>
          <p:cNvSpPr/>
          <p:nvPr/>
        </p:nvSpPr>
        <p:spPr>
          <a:xfrm>
            <a:off x="6254496" y="4370832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Donor, restaurant and charity experience</a:t>
            </a:r>
            <a:endParaRPr lang="en-US" sz="730" dirty="0"/>
          </a:p>
        </p:txBody>
      </p:sp>
      <p:sp>
        <p:nvSpPr>
          <p:cNvPr id="41" name="Shape 31"/>
          <p:cNvSpPr/>
          <p:nvPr/>
        </p:nvSpPr>
        <p:spPr>
          <a:xfrm>
            <a:off x="8119872" y="4261104"/>
            <a:ext cx="3438144" cy="758952"/>
          </a:xfrm>
          <a:prstGeom prst="roundRect">
            <a:avLst>
              <a:gd name="adj" fmla="val 14458"/>
            </a:avLst>
          </a:prstGeom>
          <a:solidFill>
            <a:srgbClr val="FFFDF8"/>
          </a:solidFill>
          <a:ln w="12700">
            <a:solidFill>
              <a:srgbClr val="D7DED8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02752" y="4443984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714232" y="437997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Avoided waste</a:t>
            </a:r>
            <a:endParaRPr lang="en-US" sz="930" dirty="0"/>
          </a:p>
        </p:txBody>
      </p:sp>
      <p:sp>
        <p:nvSpPr>
          <p:cNvPr id="44" name="Text 33"/>
          <p:cNvSpPr/>
          <p:nvPr/>
        </p:nvSpPr>
        <p:spPr>
          <a:xfrm>
            <a:off x="9966960" y="4370832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Meals or kilograms diverted from disposal</a:t>
            </a:r>
            <a:endParaRPr lang="en-US" sz="730" dirty="0"/>
          </a:p>
        </p:txBody>
      </p:sp>
      <p:sp>
        <p:nvSpPr>
          <p:cNvPr id="45" name="Shape 34"/>
          <p:cNvSpPr/>
          <p:nvPr/>
        </p:nvSpPr>
        <p:spPr>
          <a:xfrm>
            <a:off x="1188720" y="5431536"/>
            <a:ext cx="9784080" cy="402336"/>
          </a:xfrm>
          <a:prstGeom prst="roundRect">
            <a:avLst>
              <a:gd name="adj" fmla="val 27273"/>
            </a:avLst>
          </a:prstGeom>
          <a:solidFill>
            <a:srgbClr val="123D31"/>
          </a:solidFill>
          <a:ln w="12700">
            <a:solidFill>
              <a:srgbClr val="123D31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1435608" y="5532120"/>
            <a:ext cx="9290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next step: prototype the core workflow, test it with representatives of all three stakeholder groups, and evaluate both usability and operational performance.</a:t>
            </a:r>
            <a:endParaRPr lang="en-US" sz="920" dirty="0"/>
          </a:p>
        </p:txBody>
      </p:sp>
      <p:sp>
        <p:nvSpPr>
          <p:cNvPr id="47" name="Text 36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synthesized from all reviewed sources.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Selected literature — 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Peer-reviewed research and global institutional evidence used in this review.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691640"/>
            <a:ext cx="256032" cy="25603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373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Bierma, T. J., Jin, G., &amp; Bazan, C. N. (2019). Food donation and food safety: Challenges, current practices, and the road ahead. Journal of Environmental Health, 81(10), 16–21.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13232" y="2304288"/>
            <a:ext cx="256032" cy="256032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Carvalho, R., et al. (2025). Food waste reduction: A systematic literature review on integrating policies, consumer behavior, and innovation. Sustainability, 17(7), 3236.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13232" y="2916936"/>
            <a:ext cx="256032" cy="25603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9626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097280" y="28072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Almeida Oroski, F., &amp; da Silva, J. M. (2023). Understanding food waste-reducing platforms: A mini-review. Waste Management &amp; Research, 41(4), 816–827.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13232" y="3529584"/>
            <a:ext cx="256032" cy="256032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753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097280" y="341985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Boeck, E., et al. (2017). Food safety in the food donation chain: A case study of the Belgian donation/acceptation chain. Food Control.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13232" y="4142232"/>
            <a:ext cx="256032" cy="25603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18795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097280" y="403250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Devaraj, L., &amp; Balasubramanian, P. (2025). Optimizing the redistribution of surplus food in the hospitality sector. Sustainability, 17(8), 3556.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13232" y="4754880"/>
            <a:ext cx="256032" cy="256032"/>
          </a:xfrm>
          <a:prstGeom prst="ellipse">
            <a:avLst/>
          </a:prstGeom>
          <a:solidFill>
            <a:srgbClr val="E58B49"/>
          </a:solidFill>
          <a:ln w="12700">
            <a:solidFill>
              <a:srgbClr val="E58B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006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097280" y="464515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FAO. Recovery and redistribution of safe and nutritious food for human consumption. Technical Platform on Food Loss and Waste.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13232" y="5367528"/>
            <a:ext cx="256032" cy="256032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41324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097280" y="525780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FAO, IFAD, UNICEF, WFP, &amp; WHO. (2025). The State of Food Security and Nutrition in the World 2025.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DOIs and report pages are available in the source publications.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F7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D3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Selected literature — 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15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Digital-platform, supply-chain and Bangladesh-specific evidence.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682496"/>
            <a:ext cx="256032" cy="25603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282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Harvey, J., Smith, A., Goulding, J., &amp; Branco Illodo, I. (2020). Food sharing, redistribution, and waste reduction via mobile applications: A social network analysis. Industrial Marketing Management, 88, 437–448.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713232" y="2523744"/>
            <a:ext cx="256032" cy="256032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694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109728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Jahan, N. (2025). Managing food waste: A thematic study on restaurants in Bangladesh. Bangladesh Journal of Management Information Systems.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13232" y="3364992"/>
            <a:ext cx="256032" cy="25603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107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1097280" y="32552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Lagorio, A., &amp; Mangano, G. (2024). Measuring the effects of an anti-food-waste digital application from the operators’ perspective in urban contexts. Urban Science, 8(2), 57.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13232" y="4206240"/>
            <a:ext cx="256032" cy="256032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519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1097280" y="40965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Mohod, P. T., Otuka, R. I., Ajienka, N., Ihianle, I. K., &amp; Nwajana, A. O. (2024). A mobile application to facilitate meal box sharing in corporate environments using cloud infrastructure. Electronics, 13, 4631.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13232" y="5047488"/>
            <a:ext cx="256032" cy="25603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0932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1097280" y="4937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Onyeaka, H., et al. (2023). Using artificial intelligence to tackle food waste and enhance the circular economy. Sustainability, 15(13), 10482.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199632" y="1682496"/>
            <a:ext cx="256032" cy="256032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7282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Thapa Karki, S., Bennett, A. C. T., &amp; Mishra, J. L. (2021). Reducing food waste and food insecurity in the UK: The architecture of surplus food distribution supply chain. Industrial Marketing Management, 93, 563–577.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199632" y="2523744"/>
            <a:ext cx="256032" cy="25603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5694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640" dirty="0"/>
          </a:p>
        </p:txBody>
      </p:sp>
      <p:sp>
        <p:nvSpPr>
          <p:cNvPr id="25" name="Text 23"/>
          <p:cNvSpPr/>
          <p:nvPr/>
        </p:nvSpPr>
        <p:spPr>
          <a:xfrm>
            <a:off x="658368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UNEP. (2024). Food Waste Index Report 2024. United Nations Environment Programme.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199632" y="3364992"/>
            <a:ext cx="256032" cy="256032"/>
          </a:xfrm>
          <a:prstGeom prst="ellipse">
            <a:avLst/>
          </a:prstGeom>
          <a:solidFill>
            <a:srgbClr val="A78CC3"/>
          </a:solidFill>
          <a:ln w="12700">
            <a:solidFill>
              <a:srgbClr val="A78C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4107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640" dirty="0"/>
          </a:p>
        </p:txBody>
      </p:sp>
      <p:sp>
        <p:nvSpPr>
          <p:cNvPr id="28" name="Text 26"/>
          <p:cNvSpPr/>
          <p:nvPr/>
        </p:nvSpPr>
        <p:spPr>
          <a:xfrm>
            <a:off x="6583680" y="32552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WFP. Bangladesh country profile and food security monitoring resources.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199632" y="4206240"/>
            <a:ext cx="256032" cy="256032"/>
          </a:xfrm>
          <a:prstGeom prst="ellipse">
            <a:avLst/>
          </a:prstGeom>
          <a:solidFill>
            <a:srgbClr val="5C8FA8"/>
          </a:solidFill>
          <a:ln w="12700">
            <a:solidFill>
              <a:srgbClr val="5C8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42519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6583680" y="40965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32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IFPRI Bangladesh. (2024). Estimation of overall food losses and waste at all levels of the food chain in Bangladesh.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87552" y="5623560"/>
            <a:ext cx="10195560" cy="356616"/>
          </a:xfrm>
          <a:prstGeom prst="roundRect">
            <a:avLst>
              <a:gd name="adj" fmla="val 30769"/>
            </a:avLst>
          </a:prstGeom>
          <a:solidFill>
            <a:srgbClr val="E6EFEA"/>
          </a:solidFill>
          <a:ln w="12700">
            <a:solidFill>
              <a:srgbClr val="D4E4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5715000"/>
            <a:ext cx="9646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123D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Platform examples are discussed as archetypes from the literature; features and operations may change over time.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66928" y="631850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7180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literature review.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F7A5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FoodForward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FoodForward: A Web-Based Food Donation Platform — Literature Review</dc:title>
  <dc:subject>Literature Review for FoodForward</dc:subject>
  <dc:creator>OpenAI</dc:creator>
  <cp:lastModifiedBy>OpenAI</cp:lastModifiedBy>
  <cp:revision>1</cp:revision>
  <dcterms:created xsi:type="dcterms:W3CDTF">2026-07-05T19:16:33Z</dcterms:created>
  <dcterms:modified xsi:type="dcterms:W3CDTF">2026-07-05T19:16:33Z</dcterms:modified>
</cp:coreProperties>
</file>